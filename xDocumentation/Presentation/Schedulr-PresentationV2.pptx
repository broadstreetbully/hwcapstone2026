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Lst>
  <p:notesMasterIdLst>
    <p:notesMasterId r:id="rId17"/>
  </p:notesMasterIdLst>
  <p:sldIdLst>
    <p:sldId id="256" r:id="rId2"/>
    <p:sldId id="257" r:id="rId3"/>
    <p:sldId id="258" r:id="rId4"/>
    <p:sldId id="259" r:id="rId5"/>
    <p:sldId id="261" r:id="rId6"/>
    <p:sldId id="269" r:id="rId7"/>
    <p:sldId id="270" r:id="rId8"/>
    <p:sldId id="271" r:id="rId9"/>
    <p:sldId id="272" r:id="rId10"/>
    <p:sldId id="265" r:id="rId11"/>
    <p:sldId id="273" r:id="rId12"/>
    <p:sldId id="274" r:id="rId13"/>
    <p:sldId id="275" r:id="rId14"/>
    <p:sldId id="263"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53" userDrawn="1">
          <p15:clr>
            <a:srgbClr val="A4A3A4"/>
          </p15:clr>
        </p15:guide>
        <p15:guide id="2" pos="381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68" d="100"/>
          <a:sy n="68" d="100"/>
        </p:scale>
        <p:origin x="1234" y="667"/>
      </p:cViewPr>
      <p:guideLst>
        <p:guide orient="horz" pos="1253"/>
        <p:guide pos="381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3891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CBB78-4984-6000-EB24-706BD9CD1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79158E-C39E-4212-C6B5-2014DCA054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B203FA-F04E-F784-A5F4-10C0D3C0B4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346E6B-F5F1-E04F-7C9E-AE80CF6FFCE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658591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12B1D-5022-04AA-D1EB-7613136D7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82A67-8D8A-51D5-7CFF-27FC7CD0AF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C8353-6C6E-8A46-C937-46EE33833A5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EEE0E3-027E-BBCB-D737-2B878BB94F5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3165494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0D1CF-AD9F-1FFF-90A0-6E7C64E436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B826F-25EE-A964-C301-59A4DB36C6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0F8750-D94A-3A2A-C268-A3113B0D90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5CBAE9-6FB5-F497-2B51-2EEC5980C912}"/>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8311598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8D2BF-8F14-7A8E-5F8B-460F461CCE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0FC28-B701-D870-F831-A62355450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708AA-0A7E-557F-5D2C-4FD009C6A8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856816-A555-F486-19E8-3FB6A6C0FB4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1216241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1F74-B57D-6476-A700-28FBADA86E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595AA-D23F-F51F-4632-8C3C3E53F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07B9F4-A18D-D588-2E0D-A2DCB3D05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14A2C6-19EC-49EE-941C-276CAEA1DB1E}"/>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1841016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515BB-94CA-2DE4-35AC-EE319FBC58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166D6-27DD-05D7-234F-DA9511008B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5BF9CB-EC7C-4270-C3CA-3B8941E85C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E50BBD-BB31-59C7-D5A0-FFBAAB9DDCC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9247372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FD8B-4248-560E-CF43-5AEC61495C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25ACA-5C99-D558-5560-10AD8CE23A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80B693-CD19-7FF4-5CEC-F16B51F08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96F67B-ADF7-79A8-DE32-27FEEE3F44D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404523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440"/>
        </a:solidFill>
        <a:effectLst/>
      </p:bgPr>
    </p:bg>
    <p:spTree>
      <p:nvGrpSpPr>
        <p:cNvPr id="1" name=""/>
        <p:cNvGrpSpPr/>
        <p:nvPr/>
      </p:nvGrpSpPr>
      <p:grpSpPr>
        <a:xfrm>
          <a:off x="0" y="0"/>
          <a:ext cx="0" cy="0"/>
          <a:chOff x="0" y="0"/>
          <a:chExt cx="0" cy="0"/>
        </a:xfrm>
      </p:grpSpPr>
      <p:sp>
        <p:nvSpPr>
          <p:cNvPr id="2" name="Shape 0"/>
          <p:cNvSpPr/>
          <p:nvPr/>
        </p:nvSpPr>
        <p:spPr>
          <a:xfrm>
            <a:off x="640080" y="1965960"/>
            <a:ext cx="457200" cy="457200"/>
          </a:xfrm>
          <a:prstGeom prst="roundRect">
            <a:avLst>
              <a:gd name="adj" fmla="val 16000"/>
            </a:avLst>
          </a:prstGeom>
          <a:solidFill>
            <a:srgbClr val="B85042"/>
          </a:solidFill>
          <a:ln w="12700">
            <a:solidFill>
              <a:srgbClr val="B85042"/>
            </a:solidFill>
            <a:prstDash val="solid"/>
          </a:ln>
        </p:spPr>
        <p:txBody>
          <a:bodyPr/>
          <a:lstStyle/>
          <a:p>
            <a:endParaRPr lang="en-AU"/>
          </a:p>
        </p:txBody>
      </p:sp>
      <p:sp>
        <p:nvSpPr>
          <p:cNvPr id="3" name="Text 1"/>
          <p:cNvSpPr/>
          <p:nvPr/>
        </p:nvSpPr>
        <p:spPr>
          <a:xfrm>
            <a:off x="640080" y="1965960"/>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a:t>
            </a:r>
            <a:endParaRPr lang="en-US" sz="2400" dirty="0"/>
          </a:p>
        </p:txBody>
      </p:sp>
      <p:sp>
        <p:nvSpPr>
          <p:cNvPr id="4" name="Text 2"/>
          <p:cNvSpPr/>
          <p:nvPr/>
        </p:nvSpPr>
        <p:spPr>
          <a:xfrm>
            <a:off x="640080" y="2606040"/>
            <a:ext cx="8686800" cy="1051560"/>
          </a:xfrm>
          <a:prstGeom prst="rect">
            <a:avLst/>
          </a:prstGeom>
          <a:noFill/>
          <a:ln/>
        </p:spPr>
        <p:txBody>
          <a:bodyPr wrap="square" lIns="0" tIns="0" rIns="0" bIns="0" rtlCol="0" anchor="ctr"/>
          <a:lstStyle/>
          <a:p>
            <a:pPr marL="0" indent="0">
              <a:buNone/>
            </a:pPr>
            <a:r>
              <a:rPr lang="en-US" sz="6000" b="1" dirty="0" err="1">
                <a:solidFill>
                  <a:srgbClr val="FFFFFF"/>
                </a:solidFill>
                <a:latin typeface="Cambria" pitchFamily="34" charset="0"/>
                <a:ea typeface="Cambria" pitchFamily="34" charset="-122"/>
                <a:cs typeface="Cambria" pitchFamily="34" charset="-120"/>
              </a:rPr>
              <a:t>Schedulr</a:t>
            </a: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p:nvPr/>
        </p:nvSpPr>
        <p:spPr>
          <a:xfrm>
            <a:off x="640080" y="3703320"/>
            <a:ext cx="7863840" cy="731520"/>
          </a:xfrm>
          <a:prstGeom prst="rect">
            <a:avLst/>
          </a:prstGeom>
          <a:noFill/>
          <a:ln/>
        </p:spPr>
        <p:txBody>
          <a:bodyPr wrap="square" lIns="0" tIns="0" rIns="0" bIns="0" rtlCol="0" anchor="ctr"/>
          <a:lstStyle/>
          <a:p>
            <a:pPr marL="0" indent="0">
              <a:lnSpc>
                <a:spcPts val="2600"/>
              </a:lnSpc>
              <a:buNone/>
            </a:pPr>
            <a:r>
              <a:rPr lang="en-US" sz="1800" dirty="0">
                <a:solidFill>
                  <a:srgbClr val="C9CDD3"/>
                </a:solidFill>
                <a:latin typeface="Calibri" pitchFamily="34" charset="0"/>
                <a:ea typeface="Calibri" pitchFamily="34" charset="-122"/>
                <a:cs typeface="Calibri" pitchFamily="34" charset="-120"/>
              </a:rPr>
              <a:t>Version-controlled specification schedules for architecture and interiors practices</a:t>
            </a:r>
            <a:endParaRPr lang="en-US" sz="1800" dirty="0"/>
          </a:p>
        </p:txBody>
      </p:sp>
      <p:sp>
        <p:nvSpPr>
          <p:cNvPr id="6" name="Text 4"/>
          <p:cNvSpPr/>
          <p:nvPr/>
        </p:nvSpPr>
        <p:spPr>
          <a:xfrm>
            <a:off x="640080" y="4892040"/>
            <a:ext cx="8229600" cy="274320"/>
          </a:xfrm>
          <a:prstGeom prst="rect">
            <a:avLst/>
          </a:prstGeom>
          <a:noFill/>
          <a:ln/>
        </p:spPr>
        <p:txBody>
          <a:bodyPr wrap="square" lIns="0" tIns="0" rIns="0" bIns="0" rtlCol="0" anchor="ctr"/>
          <a:lstStyle/>
          <a:p>
            <a:pPr marL="0" indent="0">
              <a:buNone/>
            </a:pPr>
            <a:r>
              <a:rPr lang="en-US" sz="1200" kern="0" spc="100" dirty="0">
                <a:solidFill>
                  <a:srgbClr val="6E7681"/>
                </a:solidFill>
                <a:latin typeface="Calibri" pitchFamily="34" charset="0"/>
                <a:ea typeface="Calibri" pitchFamily="34" charset="-122"/>
                <a:cs typeface="Calibri" pitchFamily="34" charset="-120"/>
              </a:rPr>
              <a:t>Software Engineering Bootcamp  ·  Capstone Project  ·  2026</a:t>
            </a:r>
            <a:endParaRPr lang="en-US" sz="1200" dirty="0"/>
          </a:p>
        </p:txBody>
      </p:sp>
      <p:sp>
        <p:nvSpPr>
          <p:cNvPr id="7" name="Text 5"/>
          <p:cNvSpPr/>
          <p:nvPr/>
        </p:nvSpPr>
        <p:spPr>
          <a:xfrm>
            <a:off x="640080" y="5230368"/>
            <a:ext cx="8229600" cy="274320"/>
          </a:xfrm>
          <a:prstGeom prst="rect">
            <a:avLst/>
          </a:prstGeom>
          <a:noFill/>
          <a:ln/>
        </p:spPr>
        <p:txBody>
          <a:bodyPr wrap="square" lIns="0" tIns="0" rIns="0" bIns="0" rtlCol="0" anchor="ctr"/>
          <a:lstStyle/>
          <a:p>
            <a:pPr marL="0" indent="0">
              <a:buNone/>
            </a:pPr>
            <a:r>
              <a:rPr lang="en-US" sz="1200" dirty="0">
                <a:solidFill>
                  <a:srgbClr val="6E7681"/>
                </a:solidFill>
                <a:latin typeface="Calibri" pitchFamily="34" charset="0"/>
                <a:ea typeface="Calibri" pitchFamily="34" charset="-122"/>
                <a:cs typeface="Calibri" pitchFamily="34" charset="-120"/>
              </a:rPr>
              <a:t>Presented by Hannah Williams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80996"/>
            <a:ext cx="8281283" cy="256032"/>
          </a:xfrm>
          <a:prstGeom prst="rect">
            <a:avLst/>
          </a:prstGeom>
          <a:noFill/>
          <a:ln/>
        </p:spPr>
        <p:txBody>
          <a:bodyPr wrap="square" lIns="0" tIns="0" rIns="0" bIns="0" rtlCol="0" anchor="ctr"/>
          <a:lstStyle/>
          <a:p>
            <a:pPr marL="0" indent="0">
              <a:buNone/>
            </a:pPr>
            <a:r>
              <a:rPr lang="en-US" sz="1400" b="1" kern="0" spc="200" dirty="0">
                <a:solidFill>
                  <a:srgbClr val="B85042"/>
                </a:solidFill>
                <a:latin typeface="Calibri" pitchFamily="34" charset="0"/>
                <a:ea typeface="Calibri" pitchFamily="34" charset="-122"/>
                <a:cs typeface="Calibri" pitchFamily="34" charset="-120"/>
              </a:rPr>
              <a:t>Outdated localized software for Architecture/ Interior Design Scheduling ...</a:t>
            </a:r>
            <a:endParaRPr lang="en-US" sz="1400" dirty="0"/>
          </a:p>
        </p:txBody>
      </p:sp>
      <p:sp>
        <p:nvSpPr>
          <p:cNvPr id="3" name="Text 1"/>
          <p:cNvSpPr/>
          <p:nvPr/>
        </p:nvSpPr>
        <p:spPr>
          <a:xfrm>
            <a:off x="640080" y="991892"/>
            <a:ext cx="10911535" cy="640080"/>
          </a:xfrm>
          <a:prstGeom prst="rect">
            <a:avLst/>
          </a:prstGeom>
          <a:noFill/>
          <a:ln/>
        </p:spPr>
        <p:txBody>
          <a:bodyPr wrap="square" lIns="0" tIns="0" rIns="0" bIns="0" rtlCol="0" anchor="ctr"/>
          <a:lstStyle/>
          <a:p>
            <a:r>
              <a:rPr lang="en-US" sz="3400" b="1" dirty="0">
                <a:solidFill>
                  <a:srgbClr val="2B3440"/>
                </a:solidFill>
                <a:latin typeface="Cambria" pitchFamily="34" charset="0"/>
                <a:ea typeface="Cambria" pitchFamily="34" charset="-122"/>
              </a:rPr>
              <a:t>The Problem! </a:t>
            </a:r>
            <a:endParaRPr lang="en-US" sz="3400" dirty="0"/>
          </a:p>
        </p:txBody>
      </p:sp>
      <p:sp>
        <p:nvSpPr>
          <p:cNvPr id="4" name="Shape 2"/>
          <p:cNvSpPr/>
          <p:nvPr/>
        </p:nvSpPr>
        <p:spPr>
          <a:xfrm>
            <a:off x="640080" y="1691640"/>
            <a:ext cx="10911535" cy="1170432"/>
          </a:xfrm>
          <a:prstGeom prst="roundRect">
            <a:avLst>
              <a:gd name="adj" fmla="val 3906"/>
            </a:avLst>
          </a:prstGeom>
          <a:solidFill>
            <a:srgbClr val="F2F1EE"/>
          </a:solidFill>
          <a:ln w="12700">
            <a:solidFill>
              <a:srgbClr val="D8D6D1"/>
            </a:solidFill>
            <a:prstDash val="solid"/>
          </a:ln>
        </p:spPr>
        <p:txBody>
          <a:bodyPr/>
          <a:lstStyle/>
          <a:p>
            <a:endParaRPr lang="en-AU" dirty="0"/>
          </a:p>
        </p:txBody>
      </p:sp>
      <p:sp>
        <p:nvSpPr>
          <p:cNvPr id="5" name="Shape 3"/>
          <p:cNvSpPr/>
          <p:nvPr/>
        </p:nvSpPr>
        <p:spPr>
          <a:xfrm>
            <a:off x="932688" y="211226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6" name="Text 4"/>
          <p:cNvSpPr/>
          <p:nvPr/>
        </p:nvSpPr>
        <p:spPr>
          <a:xfrm>
            <a:off x="932688" y="21122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08760" y="1973116"/>
            <a:ext cx="9966960" cy="310896"/>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Nothing is remembered</a:t>
            </a:r>
            <a:endParaRPr lang="en-US" sz="1700" dirty="0"/>
          </a:p>
        </p:txBody>
      </p:sp>
      <p:sp>
        <p:nvSpPr>
          <p:cNvPr id="8" name="Text 6"/>
          <p:cNvSpPr/>
          <p:nvPr/>
        </p:nvSpPr>
        <p:spPr>
          <a:xfrm>
            <a:off x="1508760" y="2184614"/>
            <a:ext cx="9966960" cy="502920"/>
          </a:xfrm>
          <a:prstGeom prst="rect">
            <a:avLst/>
          </a:prstGeom>
          <a:noFill/>
          <a:ln/>
        </p:spPr>
        <p:txBody>
          <a:bodyPr wrap="square" lIns="0" tIns="0" rIns="0" bIns="0" rtlCol="0" anchor="ctr"/>
          <a:lstStyle/>
          <a:p>
            <a:pPr marL="0" indent="0">
              <a:lnSpc>
                <a:spcPts val="1800"/>
              </a:lnSpc>
              <a:buNone/>
            </a:pPr>
            <a:r>
              <a:rPr lang="en-GB" sz="1350" dirty="0">
                <a:solidFill>
                  <a:srgbClr val="4A5260"/>
                </a:solidFill>
                <a:latin typeface="Calibri" pitchFamily="34" charset="0"/>
                <a:ea typeface="Calibri" pitchFamily="34" charset="-122"/>
                <a:cs typeface="Calibri" pitchFamily="34" charset="-120"/>
              </a:rPr>
              <a:t>That perfect product you specified in 2023. Or was it 2024? Six hours of folder-diving later… Ouch it was 2022.</a:t>
            </a:r>
            <a:endParaRPr lang="en-US" sz="1350" dirty="0"/>
          </a:p>
        </p:txBody>
      </p:sp>
      <p:sp>
        <p:nvSpPr>
          <p:cNvPr id="9" name="Shape 7"/>
          <p:cNvSpPr/>
          <p:nvPr/>
        </p:nvSpPr>
        <p:spPr>
          <a:xfrm>
            <a:off x="640080" y="3044952"/>
            <a:ext cx="10911535" cy="1170432"/>
          </a:xfrm>
          <a:prstGeom prst="roundRect">
            <a:avLst>
              <a:gd name="adj" fmla="val 3906"/>
            </a:avLst>
          </a:prstGeom>
          <a:solidFill>
            <a:srgbClr val="F2F1EE"/>
          </a:solidFill>
          <a:ln w="12700">
            <a:solidFill>
              <a:srgbClr val="D8D6D1"/>
            </a:solidFill>
            <a:prstDash val="solid"/>
          </a:ln>
        </p:spPr>
        <p:txBody>
          <a:bodyPr/>
          <a:lstStyle/>
          <a:p>
            <a:endParaRPr lang="en-AU"/>
          </a:p>
        </p:txBody>
      </p:sp>
      <p:sp>
        <p:nvSpPr>
          <p:cNvPr id="10" name="Shape 8"/>
          <p:cNvSpPr/>
          <p:nvPr/>
        </p:nvSpPr>
        <p:spPr>
          <a:xfrm>
            <a:off x="932688" y="3465576"/>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1" name="Text 9"/>
          <p:cNvSpPr/>
          <p:nvPr/>
        </p:nvSpPr>
        <p:spPr>
          <a:xfrm>
            <a:off x="932688" y="346557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08760" y="3245318"/>
            <a:ext cx="9966960" cy="310896"/>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Everything is retyped (or worse copied and pasted)</a:t>
            </a:r>
            <a:endParaRPr lang="en-US" sz="1700" dirty="0"/>
          </a:p>
        </p:txBody>
      </p:sp>
      <p:sp>
        <p:nvSpPr>
          <p:cNvPr id="13" name="Text 11"/>
          <p:cNvSpPr/>
          <p:nvPr/>
        </p:nvSpPr>
        <p:spPr>
          <a:xfrm>
            <a:off x="1508760" y="3457234"/>
            <a:ext cx="9966960" cy="758149"/>
          </a:xfrm>
          <a:prstGeom prst="rect">
            <a:avLst/>
          </a:prstGeom>
          <a:noFill/>
          <a:ln/>
        </p:spPr>
        <p:txBody>
          <a:bodyPr wrap="square" lIns="0" tIns="0" rIns="0" bIns="0" rtlCol="0" anchor="ctr"/>
          <a:lstStyle/>
          <a:p>
            <a:pPr marL="0" indent="0">
              <a:lnSpc>
                <a:spcPts val="1800"/>
              </a:lnSpc>
              <a:buNone/>
            </a:pPr>
            <a:r>
              <a:rPr lang="en-GB" sz="1350" dirty="0">
                <a:solidFill>
                  <a:srgbClr val="4A5260"/>
                </a:solidFill>
                <a:latin typeface="Calibri" pitchFamily="34" charset="0"/>
                <a:ea typeface="Calibri" pitchFamily="34" charset="-122"/>
                <a:cs typeface="Calibri" pitchFamily="34" charset="-120"/>
              </a:rPr>
              <a:t>The same 30 products, typed again and again every project but with different typos.</a:t>
            </a:r>
          </a:p>
          <a:p>
            <a:pPr marL="0" indent="0">
              <a:lnSpc>
                <a:spcPts val="1800"/>
              </a:lnSpc>
              <a:buNone/>
            </a:pPr>
            <a:r>
              <a:rPr lang="en-GB" sz="1350" dirty="0">
                <a:solidFill>
                  <a:srgbClr val="4A5260"/>
                </a:solidFill>
                <a:latin typeface="Calibri" pitchFamily="34" charset="0"/>
                <a:ea typeface="Calibri" pitchFamily="34" charset="-122"/>
                <a:cs typeface="Calibri" pitchFamily="34" charset="-120"/>
              </a:rPr>
              <a:t>And the schedule you just sent the client still cites the 2016 building code; the year of the project you copied it from.</a:t>
            </a:r>
            <a:endParaRPr lang="en-US" sz="1350" dirty="0"/>
          </a:p>
        </p:txBody>
      </p:sp>
      <p:sp>
        <p:nvSpPr>
          <p:cNvPr id="14" name="Shape 12"/>
          <p:cNvSpPr/>
          <p:nvPr/>
        </p:nvSpPr>
        <p:spPr>
          <a:xfrm>
            <a:off x="640080" y="4398264"/>
            <a:ext cx="10911535" cy="1170432"/>
          </a:xfrm>
          <a:prstGeom prst="roundRect">
            <a:avLst>
              <a:gd name="adj" fmla="val 3906"/>
            </a:avLst>
          </a:prstGeom>
          <a:solidFill>
            <a:srgbClr val="F2F1EE"/>
          </a:solidFill>
          <a:ln w="12700">
            <a:solidFill>
              <a:srgbClr val="D8D6D1"/>
            </a:solidFill>
            <a:prstDash val="solid"/>
          </a:ln>
        </p:spPr>
        <p:txBody>
          <a:bodyPr/>
          <a:lstStyle/>
          <a:p>
            <a:endParaRPr lang="en-AU" dirty="0"/>
          </a:p>
        </p:txBody>
      </p:sp>
      <p:sp>
        <p:nvSpPr>
          <p:cNvPr id="15" name="Shape 13"/>
          <p:cNvSpPr/>
          <p:nvPr/>
        </p:nvSpPr>
        <p:spPr>
          <a:xfrm>
            <a:off x="932688" y="4818888"/>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6" name="Text 14"/>
          <p:cNvSpPr/>
          <p:nvPr/>
        </p:nvSpPr>
        <p:spPr>
          <a:xfrm>
            <a:off x="932688" y="481888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08760" y="4672584"/>
            <a:ext cx="9966960" cy="310896"/>
          </a:xfrm>
          <a:prstGeom prst="rect">
            <a:avLst/>
          </a:prstGeom>
          <a:noFill/>
          <a:ln/>
        </p:spPr>
        <p:txBody>
          <a:bodyPr wrap="square" lIns="0" tIns="0" rIns="0" bIns="0" rtlCol="0" anchor="ctr"/>
          <a:lstStyle/>
          <a:p>
            <a:pPr marL="0" indent="0">
              <a:buNone/>
            </a:pPr>
            <a:r>
              <a:rPr lang="en-US" sz="1700" b="1" dirty="0">
                <a:solidFill>
                  <a:srgbClr val="2B3440"/>
                </a:solidFill>
                <a:latin typeface="Calibri" pitchFamily="34" charset="0"/>
                <a:ea typeface="Calibri" pitchFamily="34" charset="-122"/>
                <a:cs typeface="Calibri" pitchFamily="34" charset="-120"/>
              </a:rPr>
              <a:t>Nothing is shared</a:t>
            </a:r>
            <a:endParaRPr lang="en-US" sz="1700" dirty="0"/>
          </a:p>
        </p:txBody>
      </p:sp>
      <p:sp>
        <p:nvSpPr>
          <p:cNvPr id="18" name="Text 16"/>
          <p:cNvSpPr/>
          <p:nvPr/>
        </p:nvSpPr>
        <p:spPr>
          <a:xfrm>
            <a:off x="1508760" y="4908804"/>
            <a:ext cx="9966960" cy="502920"/>
          </a:xfrm>
          <a:prstGeom prst="rect">
            <a:avLst/>
          </a:prstGeom>
          <a:noFill/>
          <a:ln/>
        </p:spPr>
        <p:txBody>
          <a:bodyPr wrap="square" lIns="0" tIns="0" rIns="0" bIns="0" rtlCol="0" anchor="ctr"/>
          <a:lstStyle/>
          <a:p>
            <a:pPr marL="0" indent="0">
              <a:lnSpc>
                <a:spcPts val="1800"/>
              </a:lnSpc>
              <a:buNone/>
            </a:pPr>
            <a:r>
              <a:rPr lang="en-GB" sz="1350" dirty="0">
                <a:solidFill>
                  <a:srgbClr val="4A5260"/>
                </a:solidFill>
                <a:latin typeface="Calibri" pitchFamily="34" charset="0"/>
                <a:ea typeface="Calibri" pitchFamily="34" charset="-122"/>
                <a:cs typeface="Calibri" pitchFamily="34" charset="-120"/>
              </a:rPr>
              <a:t>You find the perfect tile six months too late, because it was living in someone else's spreadsheet.</a:t>
            </a:r>
            <a:endParaRPr lang="en-US" sz="1350" dirty="0"/>
          </a:p>
        </p:txBody>
      </p:sp>
      <p:sp>
        <p:nvSpPr>
          <p:cNvPr id="19" name="Text 17"/>
          <p:cNvSpPr/>
          <p:nvPr/>
        </p:nvSpPr>
        <p:spPr>
          <a:xfrm>
            <a:off x="640080" y="5870448"/>
            <a:ext cx="10515600" cy="320040"/>
          </a:xfrm>
          <a:prstGeom prst="rect">
            <a:avLst/>
          </a:prstGeom>
          <a:noFill/>
          <a:ln/>
        </p:spPr>
        <p:txBody>
          <a:bodyPr wrap="square" lIns="0" tIns="0" rIns="0" bIns="0" rtlCol="0" anchor="ctr"/>
          <a:lstStyle/>
          <a:p>
            <a:pPr marL="0" indent="0">
              <a:buNone/>
            </a:pPr>
            <a:r>
              <a:rPr lang="en-US" sz="1350" i="1" dirty="0">
                <a:solidFill>
                  <a:srgbClr val="B85042"/>
                </a:solidFill>
                <a:latin typeface="Calibri" pitchFamily="34" charset="0"/>
                <a:ea typeface="Calibri" pitchFamily="34" charset="-122"/>
                <a:cs typeface="Calibri" pitchFamily="34" charset="-120"/>
              </a:rPr>
              <a:t>I work in an architecture and interiors practice; believe me I have seen the problem! many times, with my own eyes.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680996"/>
            <a:ext cx="7315200" cy="256032"/>
          </a:xfrm>
          <a:prstGeom prst="rect">
            <a:avLst/>
          </a:prstGeom>
          <a:noFill/>
          <a:ln/>
        </p:spPr>
        <p:txBody>
          <a:bodyPr wrap="square" lIns="0" tIns="0" rIns="0" bIns="0" rtlCol="0" anchor="ctr"/>
          <a:lstStyle/>
          <a:p>
            <a:pPr marL="0" indent="0">
              <a:buNone/>
            </a:pPr>
            <a:r>
              <a:rPr lang="en-GB" sz="1400" b="1" kern="0" spc="200" dirty="0">
                <a:solidFill>
                  <a:srgbClr val="B85042"/>
                </a:solidFill>
                <a:latin typeface="Calibri" pitchFamily="34" charset="0"/>
                <a:ea typeface="Calibri" pitchFamily="34" charset="-122"/>
                <a:cs typeface="Calibri" pitchFamily="34" charset="-120"/>
              </a:rPr>
              <a:t>Spreadsheet ease, organisation accessible library, full version control</a:t>
            </a:r>
            <a:endParaRPr lang="en-US" sz="1400" dirty="0"/>
          </a:p>
        </p:txBody>
      </p:sp>
      <p:sp>
        <p:nvSpPr>
          <p:cNvPr id="3" name="Text 1"/>
          <p:cNvSpPr/>
          <p:nvPr/>
        </p:nvSpPr>
        <p:spPr>
          <a:xfrm>
            <a:off x="637337" y="10010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The Solution! </a:t>
            </a:r>
            <a:endParaRPr lang="en-US" sz="3400" dirty="0"/>
          </a:p>
        </p:txBody>
      </p:sp>
      <p:sp>
        <p:nvSpPr>
          <p:cNvPr id="4" name="Shape 2"/>
          <p:cNvSpPr/>
          <p:nvPr/>
        </p:nvSpPr>
        <p:spPr>
          <a:xfrm>
            <a:off x="640080" y="1691640"/>
            <a:ext cx="3410712" cy="3877056"/>
          </a:xfrm>
          <a:prstGeom prst="roundRect">
            <a:avLst>
              <a:gd name="adj" fmla="val 1961"/>
            </a:avLst>
          </a:prstGeom>
          <a:solidFill>
            <a:srgbClr val="F2F1EE"/>
          </a:solidFill>
          <a:ln w="12700">
            <a:solidFill>
              <a:srgbClr val="D8D6D1"/>
            </a:solidFill>
            <a:prstDash val="solid"/>
          </a:ln>
        </p:spPr>
        <p:txBody>
          <a:bodyPr/>
          <a:lstStyle/>
          <a:p>
            <a:endParaRPr lang="en-AU"/>
          </a:p>
        </p:txBody>
      </p:sp>
      <p:sp>
        <p:nvSpPr>
          <p:cNvPr id="5" name="Shape 3"/>
          <p:cNvSpPr/>
          <p:nvPr/>
        </p:nvSpPr>
        <p:spPr>
          <a:xfrm>
            <a:off x="914400" y="242166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6" name="Text 4"/>
          <p:cNvSpPr/>
          <p:nvPr/>
        </p:nvSpPr>
        <p:spPr>
          <a:xfrm>
            <a:off x="914400" y="24216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914400" y="2915440"/>
            <a:ext cx="2862072" cy="685800"/>
          </a:xfrm>
          <a:prstGeom prst="rect">
            <a:avLst/>
          </a:prstGeom>
          <a:noFill/>
          <a:ln/>
        </p:spPr>
        <p:txBody>
          <a:bodyPr wrap="square" lIns="0" tIns="0" rIns="0" bIns="0" rtlCol="0" anchor="ctr"/>
          <a:lstStyle/>
          <a:p>
            <a:pPr marL="0" indent="0">
              <a:buNone/>
            </a:pPr>
            <a:r>
              <a:rPr lang="en-US" sz="1900" b="1" dirty="0">
                <a:solidFill>
                  <a:srgbClr val="2B3440"/>
                </a:solidFill>
                <a:latin typeface="Cambria" pitchFamily="34" charset="0"/>
                <a:ea typeface="Cambria" pitchFamily="34" charset="-122"/>
                <a:cs typeface="Cambria" pitchFamily="34" charset="-120"/>
              </a:rPr>
              <a:t>Edit like a spreadsheet</a:t>
            </a:r>
            <a:endParaRPr lang="en-US" sz="1900" dirty="0"/>
          </a:p>
        </p:txBody>
      </p:sp>
      <p:sp>
        <p:nvSpPr>
          <p:cNvPr id="8" name="Text 6"/>
          <p:cNvSpPr/>
          <p:nvPr/>
        </p:nvSpPr>
        <p:spPr>
          <a:xfrm>
            <a:off x="914400" y="3592096"/>
            <a:ext cx="2862072" cy="731520"/>
          </a:xfrm>
          <a:prstGeom prst="rect">
            <a:avLst/>
          </a:prstGeom>
          <a:noFill/>
          <a:ln/>
        </p:spPr>
        <p:txBody>
          <a:bodyPr wrap="square" lIns="0" tIns="0" rIns="0" bIns="0" rtlCol="0" anchor="ctr"/>
          <a:lstStyle/>
          <a:p>
            <a:pPr marL="0" indent="0">
              <a:lnSpc>
                <a:spcPts val="1800"/>
              </a:lnSpc>
              <a:buNone/>
            </a:pPr>
            <a:r>
              <a:rPr lang="en-US" sz="1350" dirty="0">
                <a:solidFill>
                  <a:srgbClr val="4A5260"/>
                </a:solidFill>
                <a:latin typeface="Calibri" pitchFamily="34" charset="0"/>
                <a:ea typeface="Calibri" pitchFamily="34" charset="-122"/>
                <a:cs typeface="Calibri" pitchFamily="34" charset="-120"/>
              </a:rPr>
              <a:t>Double-click a row, type, click away. No forms, no create pages, no page loads.</a:t>
            </a:r>
            <a:endParaRPr lang="en-US" sz="1350" dirty="0"/>
          </a:p>
        </p:txBody>
      </p:sp>
      <p:sp>
        <p:nvSpPr>
          <p:cNvPr id="9" name="Shape 7"/>
          <p:cNvSpPr/>
          <p:nvPr/>
        </p:nvSpPr>
        <p:spPr>
          <a:xfrm>
            <a:off x="4389120" y="1705188"/>
            <a:ext cx="3410712" cy="3863508"/>
          </a:xfrm>
          <a:prstGeom prst="roundRect">
            <a:avLst>
              <a:gd name="adj" fmla="val 1961"/>
            </a:avLst>
          </a:prstGeom>
          <a:solidFill>
            <a:srgbClr val="F2F1EE"/>
          </a:solidFill>
          <a:ln w="12700">
            <a:solidFill>
              <a:srgbClr val="D8D6D1"/>
            </a:solidFill>
            <a:prstDash val="solid"/>
          </a:ln>
        </p:spPr>
        <p:txBody>
          <a:bodyPr/>
          <a:lstStyle/>
          <a:p>
            <a:endParaRPr lang="en-AU"/>
          </a:p>
        </p:txBody>
      </p:sp>
      <p:sp>
        <p:nvSpPr>
          <p:cNvPr id="10" name="Shape 8"/>
          <p:cNvSpPr/>
          <p:nvPr/>
        </p:nvSpPr>
        <p:spPr>
          <a:xfrm>
            <a:off x="4663440" y="242166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1" name="Text 9"/>
          <p:cNvSpPr/>
          <p:nvPr/>
        </p:nvSpPr>
        <p:spPr>
          <a:xfrm>
            <a:off x="4663440" y="24216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663440" y="2915440"/>
            <a:ext cx="2862072" cy="685800"/>
          </a:xfrm>
          <a:prstGeom prst="rect">
            <a:avLst/>
          </a:prstGeom>
          <a:noFill/>
          <a:ln/>
        </p:spPr>
        <p:txBody>
          <a:bodyPr wrap="square" lIns="0" tIns="0" rIns="0" bIns="0" rtlCol="0" anchor="ctr"/>
          <a:lstStyle/>
          <a:p>
            <a:pPr marL="0" indent="0">
              <a:buNone/>
            </a:pPr>
            <a:r>
              <a:rPr lang="en-US" sz="1900" b="1" dirty="0">
                <a:solidFill>
                  <a:srgbClr val="2B3440"/>
                </a:solidFill>
                <a:latin typeface="Cambria" pitchFamily="34" charset="0"/>
                <a:ea typeface="Cambria" pitchFamily="34" charset="-122"/>
                <a:cs typeface="Cambria" pitchFamily="34" charset="-120"/>
              </a:rPr>
              <a:t>Never lose a version</a:t>
            </a:r>
            <a:endParaRPr lang="en-US" sz="1900" dirty="0"/>
          </a:p>
        </p:txBody>
      </p:sp>
      <p:sp>
        <p:nvSpPr>
          <p:cNvPr id="13" name="Text 11"/>
          <p:cNvSpPr/>
          <p:nvPr/>
        </p:nvSpPr>
        <p:spPr>
          <a:xfrm>
            <a:off x="4663440" y="3592096"/>
            <a:ext cx="2862072" cy="731520"/>
          </a:xfrm>
          <a:prstGeom prst="rect">
            <a:avLst/>
          </a:prstGeom>
          <a:noFill/>
          <a:ln/>
        </p:spPr>
        <p:txBody>
          <a:bodyPr wrap="square" lIns="0" tIns="0" rIns="0" bIns="0" rtlCol="0" anchor="ctr"/>
          <a:lstStyle/>
          <a:p>
            <a:pPr marL="0" indent="0">
              <a:lnSpc>
                <a:spcPts val="1800"/>
              </a:lnSpc>
              <a:buNone/>
            </a:pPr>
            <a:r>
              <a:rPr lang="en-US" sz="1350" dirty="0">
                <a:solidFill>
                  <a:srgbClr val="4A5260"/>
                </a:solidFill>
                <a:latin typeface="Calibri" pitchFamily="34" charset="0"/>
                <a:ea typeface="Calibri" pitchFamily="34" charset="-122"/>
                <a:cs typeface="Calibri" pitchFamily="34" charset="-120"/>
              </a:rPr>
              <a:t>Every save writes a new immutable version. Nothing is ever overwritten.</a:t>
            </a:r>
            <a:endParaRPr lang="en-US" sz="1350" dirty="0"/>
          </a:p>
        </p:txBody>
      </p:sp>
      <p:sp>
        <p:nvSpPr>
          <p:cNvPr id="14" name="Shape 12"/>
          <p:cNvSpPr/>
          <p:nvPr/>
        </p:nvSpPr>
        <p:spPr>
          <a:xfrm>
            <a:off x="8138160" y="1691641"/>
            <a:ext cx="3410712" cy="3877056"/>
          </a:xfrm>
          <a:prstGeom prst="roundRect">
            <a:avLst>
              <a:gd name="adj" fmla="val 1961"/>
            </a:avLst>
          </a:prstGeom>
          <a:solidFill>
            <a:srgbClr val="F2F1EE"/>
          </a:solidFill>
          <a:ln w="12700">
            <a:solidFill>
              <a:srgbClr val="D8D6D1"/>
            </a:solidFill>
            <a:prstDash val="solid"/>
          </a:ln>
        </p:spPr>
        <p:txBody>
          <a:bodyPr/>
          <a:lstStyle/>
          <a:p>
            <a:endParaRPr lang="en-AU"/>
          </a:p>
        </p:txBody>
      </p:sp>
      <p:sp>
        <p:nvSpPr>
          <p:cNvPr id="15" name="Shape 13"/>
          <p:cNvSpPr/>
          <p:nvPr/>
        </p:nvSpPr>
        <p:spPr>
          <a:xfrm>
            <a:off x="8412480" y="242166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6" name="Text 14"/>
          <p:cNvSpPr/>
          <p:nvPr/>
        </p:nvSpPr>
        <p:spPr>
          <a:xfrm>
            <a:off x="8412480" y="24216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412480" y="2915440"/>
            <a:ext cx="2862072" cy="685800"/>
          </a:xfrm>
          <a:prstGeom prst="rect">
            <a:avLst/>
          </a:prstGeom>
          <a:noFill/>
          <a:ln/>
        </p:spPr>
        <p:txBody>
          <a:bodyPr wrap="square" lIns="0" tIns="0" rIns="0" bIns="0" rtlCol="0" anchor="ctr"/>
          <a:lstStyle/>
          <a:p>
            <a:pPr marL="0" indent="0">
              <a:buNone/>
            </a:pPr>
            <a:r>
              <a:rPr lang="en-US" sz="1900" b="1" dirty="0">
                <a:solidFill>
                  <a:srgbClr val="2B3440"/>
                </a:solidFill>
                <a:latin typeface="Cambria" pitchFamily="34" charset="0"/>
                <a:ea typeface="Cambria" pitchFamily="34" charset="-122"/>
                <a:cs typeface="Cambria" pitchFamily="34" charset="-120"/>
              </a:rPr>
              <a:t>Reuse across projects</a:t>
            </a:r>
            <a:endParaRPr lang="en-US" sz="1900" dirty="0"/>
          </a:p>
        </p:txBody>
      </p:sp>
      <p:sp>
        <p:nvSpPr>
          <p:cNvPr id="18" name="Text 16"/>
          <p:cNvSpPr/>
          <p:nvPr/>
        </p:nvSpPr>
        <p:spPr>
          <a:xfrm>
            <a:off x="8412480" y="3592096"/>
            <a:ext cx="2862072" cy="731520"/>
          </a:xfrm>
          <a:prstGeom prst="rect">
            <a:avLst/>
          </a:prstGeom>
          <a:noFill/>
          <a:ln/>
        </p:spPr>
        <p:txBody>
          <a:bodyPr wrap="square" lIns="0" tIns="0" rIns="0" bIns="0" rtlCol="0" anchor="ctr"/>
          <a:lstStyle/>
          <a:p>
            <a:pPr marL="0" indent="0">
              <a:lnSpc>
                <a:spcPts val="1800"/>
              </a:lnSpc>
              <a:buNone/>
            </a:pPr>
            <a:r>
              <a:rPr lang="en-US" sz="1350" dirty="0">
                <a:solidFill>
                  <a:srgbClr val="4A5260"/>
                </a:solidFill>
                <a:latin typeface="Calibri" pitchFamily="34" charset="0"/>
                <a:ea typeface="Calibri" pitchFamily="34" charset="-122"/>
                <a:cs typeface="Calibri" pitchFamily="34" charset="-120"/>
              </a:rPr>
              <a:t>A shared organisation library. Specs flow into schedules and refined ones flow back.</a:t>
            </a:r>
            <a:endParaRPr lang="en-US" sz="1350" dirty="0"/>
          </a:p>
        </p:txBody>
      </p:sp>
      <p:sp>
        <p:nvSpPr>
          <p:cNvPr id="24" name="Text 17">
            <a:extLst>
              <a:ext uri="{FF2B5EF4-FFF2-40B4-BE49-F238E27FC236}">
                <a16:creationId xmlns:a16="http://schemas.microsoft.com/office/drawing/2014/main" id="{04CB03D0-21F4-F5F7-B8AC-FB47ACBE3EB6}"/>
              </a:ext>
            </a:extLst>
          </p:cNvPr>
          <p:cNvSpPr/>
          <p:nvPr/>
        </p:nvSpPr>
        <p:spPr>
          <a:xfrm>
            <a:off x="640080" y="5870448"/>
            <a:ext cx="10515600" cy="320040"/>
          </a:xfrm>
          <a:prstGeom prst="rect">
            <a:avLst/>
          </a:prstGeom>
          <a:noFill/>
          <a:ln/>
        </p:spPr>
        <p:txBody>
          <a:bodyPr wrap="square" lIns="0" tIns="0" rIns="0" bIns="0" rtlCol="0" anchor="ctr"/>
          <a:lstStyle/>
          <a:p>
            <a:pPr marL="0" indent="0">
              <a:buNone/>
            </a:pPr>
            <a:r>
              <a:rPr lang="en-GB" sz="1350" i="1" dirty="0">
                <a:solidFill>
                  <a:srgbClr val="B85042"/>
                </a:solidFill>
                <a:latin typeface="Calibri" pitchFamily="34" charset="0"/>
                <a:ea typeface="Calibri" pitchFamily="34" charset="-122"/>
                <a:cs typeface="Calibri" pitchFamily="34" charset="-120"/>
              </a:rPr>
              <a:t>From experience: designers don't love change, so the solution! had to feel like Excel, their old friend</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3440"/>
        </a:solidFill>
        <a:effectLst/>
      </p:bgPr>
    </p:bg>
    <p:spTree>
      <p:nvGrpSpPr>
        <p:cNvPr id="1" name=""/>
        <p:cNvGrpSpPr/>
        <p:nvPr/>
      </p:nvGrpSpPr>
      <p:grpSpPr>
        <a:xfrm>
          <a:off x="0" y="0"/>
          <a:ext cx="0" cy="0"/>
          <a:chOff x="0" y="0"/>
          <a:chExt cx="0" cy="0"/>
        </a:xfrm>
      </p:grpSpPr>
      <p:sp>
        <p:nvSpPr>
          <p:cNvPr id="2" name="Text 0"/>
          <p:cNvSpPr/>
          <p:nvPr/>
        </p:nvSpPr>
        <p:spPr>
          <a:xfrm>
            <a:off x="4887278" y="2730196"/>
            <a:ext cx="2460006" cy="822960"/>
          </a:xfrm>
          <a:prstGeom prst="rect">
            <a:avLst/>
          </a:prstGeom>
          <a:noFill/>
          <a:ln/>
        </p:spPr>
        <p:txBody>
          <a:bodyPr wrap="square" lIns="0" tIns="0" rIns="0" bIns="0" rtlCol="0" anchor="ctr"/>
          <a:lstStyle/>
          <a:p>
            <a:pPr marL="0" indent="0">
              <a:buNone/>
            </a:pPr>
            <a:r>
              <a:rPr lang="en-US" sz="4400" b="1" dirty="0">
                <a:solidFill>
                  <a:srgbClr val="FFFFFF"/>
                </a:solidFill>
                <a:ea typeface="Cambria" pitchFamily="34" charset="-122"/>
              </a:rPr>
              <a:t>Live Demo</a:t>
            </a:r>
            <a:endParaRPr lang="en-US" sz="4400" dirty="0"/>
          </a:p>
        </p:txBody>
      </p:sp>
      <p:sp>
        <p:nvSpPr>
          <p:cNvPr id="28" name="Shape 0">
            <a:extLst>
              <a:ext uri="{FF2B5EF4-FFF2-40B4-BE49-F238E27FC236}">
                <a16:creationId xmlns:a16="http://schemas.microsoft.com/office/drawing/2014/main" id="{2D46A787-FEFA-03CB-BEC5-99C3D7A2CB75}"/>
              </a:ext>
            </a:extLst>
          </p:cNvPr>
          <p:cNvSpPr/>
          <p:nvPr/>
        </p:nvSpPr>
        <p:spPr>
          <a:xfrm>
            <a:off x="5830888" y="2004854"/>
            <a:ext cx="457200" cy="457200"/>
          </a:xfrm>
          <a:prstGeom prst="roundRect">
            <a:avLst>
              <a:gd name="adj" fmla="val 16000"/>
            </a:avLst>
          </a:prstGeom>
          <a:solidFill>
            <a:srgbClr val="B85042"/>
          </a:solidFill>
          <a:ln w="12700">
            <a:solidFill>
              <a:srgbClr val="B85042"/>
            </a:solidFill>
            <a:prstDash val="solid"/>
          </a:ln>
        </p:spPr>
        <p:txBody>
          <a:bodyPr/>
          <a:lstStyle/>
          <a:p>
            <a:endParaRPr lang="en-AU"/>
          </a:p>
        </p:txBody>
      </p:sp>
      <p:sp>
        <p:nvSpPr>
          <p:cNvPr id="30" name="Text 1">
            <a:extLst>
              <a:ext uri="{FF2B5EF4-FFF2-40B4-BE49-F238E27FC236}">
                <a16:creationId xmlns:a16="http://schemas.microsoft.com/office/drawing/2014/main" id="{D43474E3-BACA-C166-B07C-82E10CC65BBA}"/>
              </a:ext>
            </a:extLst>
          </p:cNvPr>
          <p:cNvSpPr/>
          <p:nvPr/>
        </p:nvSpPr>
        <p:spPr>
          <a:xfrm>
            <a:off x="5830888" y="2004854"/>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VERSIONING</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An edit adds a version — it never overwrites one</a:t>
            </a:r>
            <a:endParaRPr lang="en-US" sz="3400" dirty="0"/>
          </a:p>
        </p:txBody>
      </p:sp>
      <p:sp>
        <p:nvSpPr>
          <p:cNvPr id="4" name="Shape 2"/>
          <p:cNvSpPr/>
          <p:nvPr/>
        </p:nvSpPr>
        <p:spPr>
          <a:xfrm>
            <a:off x="640080"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5" name="Text 3"/>
          <p:cNvSpPr/>
          <p:nvPr/>
        </p:nvSpPr>
        <p:spPr>
          <a:xfrm>
            <a:off x="896112"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a:t>
            </a:r>
            <a:endParaRPr lang="en-US" sz="2000" dirty="0"/>
          </a:p>
        </p:txBody>
      </p:sp>
      <p:sp>
        <p:nvSpPr>
          <p:cNvPr id="6" name="Text 4"/>
          <p:cNvSpPr/>
          <p:nvPr/>
        </p:nvSpPr>
        <p:spPr>
          <a:xfrm>
            <a:off x="896112"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the thing being specified</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e.g. Acoustic Wall Panel</a:t>
            </a:r>
            <a:endParaRPr lang="en-US" sz="1250" dirty="0"/>
          </a:p>
        </p:txBody>
      </p:sp>
      <p:sp>
        <p:nvSpPr>
          <p:cNvPr id="7" name="Shape 5"/>
          <p:cNvSpPr/>
          <p:nvPr/>
        </p:nvSpPr>
        <p:spPr>
          <a:xfrm>
            <a:off x="3749040" y="2468880"/>
            <a:ext cx="694944" cy="0"/>
          </a:xfrm>
          <a:prstGeom prst="line">
            <a:avLst/>
          </a:prstGeom>
          <a:noFill/>
          <a:ln w="19050">
            <a:solidFill>
              <a:srgbClr val="6E7681"/>
            </a:solidFill>
            <a:prstDash val="solid"/>
            <a:tailEnd type="triangle"/>
          </a:ln>
        </p:spPr>
        <p:txBody>
          <a:bodyPr/>
          <a:lstStyle/>
          <a:p>
            <a:endParaRPr lang="en-AU"/>
          </a:p>
        </p:txBody>
      </p:sp>
      <p:sp>
        <p:nvSpPr>
          <p:cNvPr id="8" name="Shape 6"/>
          <p:cNvSpPr/>
          <p:nvPr/>
        </p:nvSpPr>
        <p:spPr>
          <a:xfrm>
            <a:off x="4626864"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9" name="Text 7"/>
          <p:cNvSpPr/>
          <p:nvPr/>
        </p:nvSpPr>
        <p:spPr>
          <a:xfrm>
            <a:off x="4882896"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SpecOption</a:t>
            </a:r>
            <a:endParaRPr lang="en-US" sz="2000" dirty="0"/>
          </a:p>
        </p:txBody>
      </p:sp>
      <p:sp>
        <p:nvSpPr>
          <p:cNvPr id="10" name="Text 8"/>
          <p:cNvSpPr/>
          <p:nvPr/>
        </p:nvSpPr>
        <p:spPr>
          <a:xfrm>
            <a:off x="4882896"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a product choice</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holds a pointer to current</a:t>
            </a:r>
            <a:endParaRPr lang="en-US" sz="1250" dirty="0"/>
          </a:p>
        </p:txBody>
      </p:sp>
      <p:sp>
        <p:nvSpPr>
          <p:cNvPr id="11" name="Shape 9"/>
          <p:cNvSpPr/>
          <p:nvPr/>
        </p:nvSpPr>
        <p:spPr>
          <a:xfrm>
            <a:off x="7735824" y="2468880"/>
            <a:ext cx="694944" cy="0"/>
          </a:xfrm>
          <a:prstGeom prst="line">
            <a:avLst/>
          </a:prstGeom>
          <a:noFill/>
          <a:ln w="19050">
            <a:solidFill>
              <a:srgbClr val="6E7681"/>
            </a:solidFill>
            <a:prstDash val="solid"/>
            <a:tailEnd type="triangle"/>
          </a:ln>
        </p:spPr>
        <p:txBody>
          <a:bodyPr/>
          <a:lstStyle/>
          <a:p>
            <a:endParaRPr lang="en-AU"/>
          </a:p>
        </p:txBody>
      </p:sp>
      <p:sp>
        <p:nvSpPr>
          <p:cNvPr id="12" name="Shape 10"/>
          <p:cNvSpPr/>
          <p:nvPr/>
        </p:nvSpPr>
        <p:spPr>
          <a:xfrm>
            <a:off x="8613648"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13" name="Text 11"/>
          <p:cNvSpPr/>
          <p:nvPr/>
        </p:nvSpPr>
        <p:spPr>
          <a:xfrm>
            <a:off x="8869680"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SpecVersion</a:t>
            </a:r>
            <a:endParaRPr lang="en-US" sz="2000" dirty="0"/>
          </a:p>
        </p:txBody>
      </p:sp>
      <p:sp>
        <p:nvSpPr>
          <p:cNvPr id="14" name="Text 12"/>
          <p:cNvSpPr/>
          <p:nvPr/>
        </p:nvSpPr>
        <p:spPr>
          <a:xfrm>
            <a:off x="8869680"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immutable snapshot</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of the text</a:t>
            </a:r>
            <a:endParaRPr lang="en-US" sz="1250" dirty="0"/>
          </a:p>
        </p:txBody>
      </p:sp>
      <p:sp>
        <p:nvSpPr>
          <p:cNvPr id="15" name="Shape 13"/>
          <p:cNvSpPr/>
          <p:nvPr/>
        </p:nvSpPr>
        <p:spPr>
          <a:xfrm>
            <a:off x="640080" y="3429000"/>
            <a:ext cx="10911535" cy="2331720"/>
          </a:xfrm>
          <a:prstGeom prst="roundRect">
            <a:avLst>
              <a:gd name="adj" fmla="val 1961"/>
            </a:avLst>
          </a:prstGeom>
          <a:solidFill>
            <a:srgbClr val="2B3440"/>
          </a:solidFill>
          <a:ln w="12700">
            <a:solidFill>
              <a:srgbClr val="2B3440"/>
            </a:solidFill>
            <a:prstDash val="solid"/>
          </a:ln>
        </p:spPr>
        <p:txBody>
          <a:bodyPr/>
          <a:lstStyle/>
          <a:p>
            <a:endParaRPr lang="en-AU"/>
          </a:p>
        </p:txBody>
      </p:sp>
      <p:sp>
        <p:nvSpPr>
          <p:cNvPr id="16" name="Text 14"/>
          <p:cNvSpPr/>
          <p:nvPr/>
        </p:nvSpPr>
        <p:spPr>
          <a:xfrm>
            <a:off x="1097280" y="3639312"/>
            <a:ext cx="7315200" cy="320040"/>
          </a:xfrm>
          <a:prstGeom prst="rect">
            <a:avLst/>
          </a:prstGeom>
          <a:noFill/>
          <a:ln/>
        </p:spPr>
        <p:txBody>
          <a:bodyPr wrap="square" lIns="0" tIns="0" rIns="0" bIns="0" rtlCol="0" anchor="ctr"/>
          <a:lstStyle/>
          <a:p>
            <a:pPr marL="0" indent="0">
              <a:buNone/>
            </a:pPr>
            <a:r>
              <a:rPr lang="en-US" sz="1200" b="1" kern="0" spc="120" dirty="0">
                <a:solidFill>
                  <a:srgbClr val="9FA7B2"/>
                </a:solidFill>
                <a:latin typeface="Calibri" pitchFamily="34" charset="0"/>
                <a:ea typeface="Calibri" pitchFamily="34" charset="-122"/>
                <a:cs typeface="Calibri" pitchFamily="34" charset="-120"/>
              </a:rPr>
              <a:t>What happens when someone edits a spec</a:t>
            </a:r>
            <a:endParaRPr lang="en-US" sz="1200" dirty="0"/>
          </a:p>
        </p:txBody>
      </p:sp>
      <p:sp>
        <p:nvSpPr>
          <p:cNvPr id="17" name="Shape 15"/>
          <p:cNvSpPr/>
          <p:nvPr/>
        </p:nvSpPr>
        <p:spPr>
          <a:xfrm>
            <a:off x="1097280" y="4023360"/>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8" name="Text 16"/>
          <p:cNvSpPr/>
          <p:nvPr/>
        </p:nvSpPr>
        <p:spPr>
          <a:xfrm>
            <a:off x="1097280" y="402336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p:cNvSpPr/>
          <p:nvPr/>
        </p:nvSpPr>
        <p:spPr>
          <a:xfrm>
            <a:off x="1600200" y="4041648"/>
            <a:ext cx="9509760" cy="32004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The old version is left exactly as it is</a:t>
            </a:r>
            <a:endParaRPr lang="en-US" sz="1450" dirty="0"/>
          </a:p>
        </p:txBody>
      </p:sp>
      <p:sp>
        <p:nvSpPr>
          <p:cNvPr id="20" name="Shape 18"/>
          <p:cNvSpPr/>
          <p:nvPr/>
        </p:nvSpPr>
        <p:spPr>
          <a:xfrm>
            <a:off x="1097280" y="444398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1" name="Text 19"/>
          <p:cNvSpPr/>
          <p:nvPr/>
        </p:nvSpPr>
        <p:spPr>
          <a:xfrm>
            <a:off x="1097280" y="44439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p:cNvSpPr/>
          <p:nvPr/>
        </p:nvSpPr>
        <p:spPr>
          <a:xfrm>
            <a:off x="1600200" y="4462272"/>
            <a:ext cx="9509760" cy="32004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 new SpecVersion is written, numbered 2</a:t>
            </a:r>
            <a:endParaRPr lang="en-US" sz="1450" dirty="0"/>
          </a:p>
        </p:txBody>
      </p:sp>
      <p:sp>
        <p:nvSpPr>
          <p:cNvPr id="23" name="Shape 21"/>
          <p:cNvSpPr/>
          <p:nvPr/>
        </p:nvSpPr>
        <p:spPr>
          <a:xfrm>
            <a:off x="1097280" y="4864608"/>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4" name="Text 22"/>
          <p:cNvSpPr/>
          <p:nvPr/>
        </p:nvSpPr>
        <p:spPr>
          <a:xfrm>
            <a:off x="1097280" y="486460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p:cNvSpPr/>
          <p:nvPr/>
        </p:nvSpPr>
        <p:spPr>
          <a:xfrm>
            <a:off x="1600200" y="4882896"/>
            <a:ext cx="9509760" cy="32004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SpecOption.currentVersionID moves to point at it</a:t>
            </a:r>
            <a:endParaRPr lang="en-US" sz="1450" dirty="0"/>
          </a:p>
        </p:txBody>
      </p:sp>
      <p:sp>
        <p:nvSpPr>
          <p:cNvPr id="26" name="Shape 24"/>
          <p:cNvSpPr/>
          <p:nvPr/>
        </p:nvSpPr>
        <p:spPr>
          <a:xfrm>
            <a:off x="1097280" y="5285232"/>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7" name="Text 25"/>
          <p:cNvSpPr/>
          <p:nvPr/>
        </p:nvSpPr>
        <p:spPr>
          <a:xfrm>
            <a:off x="1097280" y="528523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p:nvPr/>
        </p:nvSpPr>
        <p:spPr>
          <a:xfrm>
            <a:off x="1600200" y="5303520"/>
            <a:ext cx="9509760" cy="320040"/>
          </a:xfrm>
          <a:prstGeom prst="rect">
            <a:avLst/>
          </a:prstGeom>
          <a:noFill/>
          <a:ln/>
        </p:spPr>
        <p:txBody>
          <a:bodyPr wrap="square" lIns="0" tIns="0" rIns="0" bIns="0" rtlCol="0" anchor="ctr"/>
          <a:lstStyle/>
          <a:p>
            <a:pPr marL="0" indent="0">
              <a:buNone/>
            </a:pPr>
            <a:r>
              <a:rPr lang="en-GB" sz="1450" dirty="0">
                <a:solidFill>
                  <a:srgbClr val="FFFFFF"/>
                </a:solidFill>
                <a:latin typeface="Calibri" pitchFamily="34" charset="0"/>
                <a:ea typeface="Calibri" pitchFamily="34" charset="-122"/>
                <a:cs typeface="Calibri" pitchFamily="34" charset="-120"/>
              </a:rPr>
              <a:t>Any read follows the pointer, so it lands on the new version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DCAF70C-C235-3AB6-5F88-76E202F232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044082-1DCF-E452-64DE-1C43EAB4C3EE}"/>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VERSIONING</a:t>
            </a:r>
            <a:endParaRPr lang="en-US" sz="1100" dirty="0"/>
          </a:p>
        </p:txBody>
      </p:sp>
      <p:sp>
        <p:nvSpPr>
          <p:cNvPr id="3" name="Text 1">
            <a:extLst>
              <a:ext uri="{FF2B5EF4-FFF2-40B4-BE49-F238E27FC236}">
                <a16:creationId xmlns:a16="http://schemas.microsoft.com/office/drawing/2014/main" id="{5D0C4DF9-255C-3987-0921-A56BDE540CF9}"/>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An edit adds a version — it never overwrites one</a:t>
            </a:r>
            <a:endParaRPr lang="en-US" sz="3400" dirty="0"/>
          </a:p>
        </p:txBody>
      </p:sp>
      <p:sp>
        <p:nvSpPr>
          <p:cNvPr id="4" name="Shape 2">
            <a:extLst>
              <a:ext uri="{FF2B5EF4-FFF2-40B4-BE49-F238E27FC236}">
                <a16:creationId xmlns:a16="http://schemas.microsoft.com/office/drawing/2014/main" id="{519ABCA0-A508-0C3E-9D7C-442B5C373680}"/>
              </a:ext>
            </a:extLst>
          </p:cNvPr>
          <p:cNvSpPr/>
          <p:nvPr/>
        </p:nvSpPr>
        <p:spPr>
          <a:xfrm>
            <a:off x="640080"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5" name="Text 3">
            <a:extLst>
              <a:ext uri="{FF2B5EF4-FFF2-40B4-BE49-F238E27FC236}">
                <a16:creationId xmlns:a16="http://schemas.microsoft.com/office/drawing/2014/main" id="{F0F506B0-9D94-C38D-16B2-B43C79A8EAF4}"/>
              </a:ext>
            </a:extLst>
          </p:cNvPr>
          <p:cNvSpPr/>
          <p:nvPr/>
        </p:nvSpPr>
        <p:spPr>
          <a:xfrm>
            <a:off x="896112"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a:t>
            </a:r>
            <a:endParaRPr lang="en-US" sz="2000" dirty="0"/>
          </a:p>
        </p:txBody>
      </p:sp>
      <p:sp>
        <p:nvSpPr>
          <p:cNvPr id="6" name="Text 4">
            <a:extLst>
              <a:ext uri="{FF2B5EF4-FFF2-40B4-BE49-F238E27FC236}">
                <a16:creationId xmlns:a16="http://schemas.microsoft.com/office/drawing/2014/main" id="{FB796301-660B-9550-749B-4B997F91F983}"/>
              </a:ext>
            </a:extLst>
          </p:cNvPr>
          <p:cNvSpPr/>
          <p:nvPr/>
        </p:nvSpPr>
        <p:spPr>
          <a:xfrm>
            <a:off x="896112"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the thing being specified</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e.g. Acoustic Wall Panel</a:t>
            </a:r>
            <a:endParaRPr lang="en-US" sz="1250" dirty="0"/>
          </a:p>
        </p:txBody>
      </p:sp>
      <p:sp>
        <p:nvSpPr>
          <p:cNvPr id="7" name="Shape 5">
            <a:extLst>
              <a:ext uri="{FF2B5EF4-FFF2-40B4-BE49-F238E27FC236}">
                <a16:creationId xmlns:a16="http://schemas.microsoft.com/office/drawing/2014/main" id="{FA53D831-9D22-A2E2-98B5-ADF8F13AB10C}"/>
              </a:ext>
            </a:extLst>
          </p:cNvPr>
          <p:cNvSpPr/>
          <p:nvPr/>
        </p:nvSpPr>
        <p:spPr>
          <a:xfrm>
            <a:off x="3749040" y="2468880"/>
            <a:ext cx="694944" cy="0"/>
          </a:xfrm>
          <a:prstGeom prst="line">
            <a:avLst/>
          </a:prstGeom>
          <a:noFill/>
          <a:ln w="19050">
            <a:solidFill>
              <a:srgbClr val="6E7681"/>
            </a:solidFill>
            <a:prstDash val="solid"/>
            <a:tailEnd type="triangle"/>
          </a:ln>
        </p:spPr>
        <p:txBody>
          <a:bodyPr/>
          <a:lstStyle/>
          <a:p>
            <a:endParaRPr lang="en-AU"/>
          </a:p>
        </p:txBody>
      </p:sp>
      <p:pic>
        <p:nvPicPr>
          <p:cNvPr id="30" name="Picture 29">
            <a:extLst>
              <a:ext uri="{FF2B5EF4-FFF2-40B4-BE49-F238E27FC236}">
                <a16:creationId xmlns:a16="http://schemas.microsoft.com/office/drawing/2014/main" id="{38F5A561-D121-B4ED-1C7F-11381D7562A4}"/>
              </a:ext>
            </a:extLst>
          </p:cNvPr>
          <p:cNvPicPr>
            <a:picLocks noChangeAspect="1"/>
          </p:cNvPicPr>
          <p:nvPr/>
        </p:nvPicPr>
        <p:blipFill>
          <a:blip r:embed="rId3"/>
          <a:stretch>
            <a:fillRect/>
          </a:stretch>
        </p:blipFill>
        <p:spPr>
          <a:xfrm>
            <a:off x="3026465" y="3654817"/>
            <a:ext cx="6066046" cy="3063505"/>
          </a:xfrm>
          <a:prstGeom prst="rect">
            <a:avLst/>
          </a:prstGeom>
        </p:spPr>
      </p:pic>
      <p:sp>
        <p:nvSpPr>
          <p:cNvPr id="32" name="Text 4">
            <a:extLst>
              <a:ext uri="{FF2B5EF4-FFF2-40B4-BE49-F238E27FC236}">
                <a16:creationId xmlns:a16="http://schemas.microsoft.com/office/drawing/2014/main" id="{D30812B8-2783-57D9-FFCB-BFFBC0EAAE6C}"/>
              </a:ext>
            </a:extLst>
          </p:cNvPr>
          <p:cNvSpPr/>
          <p:nvPr/>
        </p:nvSpPr>
        <p:spPr>
          <a:xfrm>
            <a:off x="3026465" y="3328416"/>
            <a:ext cx="4633791" cy="335545"/>
          </a:xfrm>
          <a:prstGeom prst="rect">
            <a:avLst/>
          </a:prstGeom>
          <a:noFill/>
          <a:ln/>
        </p:spPr>
        <p:txBody>
          <a:bodyPr wrap="square" lIns="0" tIns="0" rIns="0" bIns="0" rtlCol="0" anchor="ctr"/>
          <a:lstStyle/>
          <a:p>
            <a:pPr marL="0" indent="0">
              <a:lnSpc>
                <a:spcPts val="1600"/>
              </a:lnSpc>
              <a:buNone/>
            </a:pPr>
            <a:r>
              <a:rPr lang="sv-SE" sz="1250" dirty="0">
                <a:solidFill>
                  <a:srgbClr val="4A5260"/>
                </a:solidFill>
                <a:latin typeface="Calibri" pitchFamily="34" charset="0"/>
                <a:ea typeface="Calibri" pitchFamily="34" charset="-122"/>
                <a:cs typeface="Calibri" pitchFamily="34" charset="-120"/>
              </a:rPr>
              <a:t>backend/src/models/specModel.js</a:t>
            </a:r>
            <a:endParaRPr lang="en-US" sz="1250" dirty="0"/>
          </a:p>
        </p:txBody>
      </p:sp>
    </p:spTree>
    <p:extLst>
      <p:ext uri="{BB962C8B-B14F-4D97-AF65-F5344CB8AC3E}">
        <p14:creationId xmlns:p14="http://schemas.microsoft.com/office/powerpoint/2010/main" val="4065453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4DEF87E-1432-0B36-4B8D-91B251A7BF3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3C7C55B-8551-EEEE-DF43-4863C042D02B}"/>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VERSIONING</a:t>
            </a:r>
            <a:endParaRPr lang="en-US" sz="1100" dirty="0"/>
          </a:p>
        </p:txBody>
      </p:sp>
      <p:sp>
        <p:nvSpPr>
          <p:cNvPr id="3" name="Text 1">
            <a:extLst>
              <a:ext uri="{FF2B5EF4-FFF2-40B4-BE49-F238E27FC236}">
                <a16:creationId xmlns:a16="http://schemas.microsoft.com/office/drawing/2014/main" id="{6861429C-DE7F-2076-4ADA-D544785CF0CA}"/>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An edit adds a version — it never overwrites one</a:t>
            </a:r>
            <a:endParaRPr lang="en-US" sz="3400" dirty="0"/>
          </a:p>
        </p:txBody>
      </p:sp>
      <p:pic>
        <p:nvPicPr>
          <p:cNvPr id="32" name="Picture 31">
            <a:extLst>
              <a:ext uri="{FF2B5EF4-FFF2-40B4-BE49-F238E27FC236}">
                <a16:creationId xmlns:a16="http://schemas.microsoft.com/office/drawing/2014/main" id="{47C0DE21-35D9-427E-E47C-B12E564A2B04}"/>
              </a:ext>
            </a:extLst>
          </p:cNvPr>
          <p:cNvPicPr>
            <a:picLocks noChangeAspect="1"/>
          </p:cNvPicPr>
          <p:nvPr/>
        </p:nvPicPr>
        <p:blipFill>
          <a:blip r:embed="rId3"/>
          <a:stretch>
            <a:fillRect/>
          </a:stretch>
        </p:blipFill>
        <p:spPr>
          <a:xfrm>
            <a:off x="2517953" y="3837733"/>
            <a:ext cx="7254869" cy="2225233"/>
          </a:xfrm>
          <a:prstGeom prst="rect">
            <a:avLst/>
          </a:prstGeom>
        </p:spPr>
      </p:pic>
      <p:sp>
        <p:nvSpPr>
          <p:cNvPr id="36" name="Text 4">
            <a:extLst>
              <a:ext uri="{FF2B5EF4-FFF2-40B4-BE49-F238E27FC236}">
                <a16:creationId xmlns:a16="http://schemas.microsoft.com/office/drawing/2014/main" id="{BA0046BE-1867-48B4-9E11-6FF5B8A0741F}"/>
              </a:ext>
            </a:extLst>
          </p:cNvPr>
          <p:cNvSpPr/>
          <p:nvPr/>
        </p:nvSpPr>
        <p:spPr>
          <a:xfrm>
            <a:off x="2511857" y="6062966"/>
            <a:ext cx="4633791" cy="335545"/>
          </a:xfrm>
          <a:prstGeom prst="rect">
            <a:avLst/>
          </a:prstGeom>
          <a:noFill/>
          <a:ln/>
        </p:spPr>
        <p:txBody>
          <a:bodyPr wrap="square" lIns="0" tIns="0" rIns="0" bIns="0" rtlCol="0" anchor="ctr"/>
          <a:lstStyle/>
          <a:p>
            <a:pPr marL="0" indent="0">
              <a:lnSpc>
                <a:spcPts val="1600"/>
              </a:lnSpc>
              <a:buNone/>
            </a:pPr>
            <a:r>
              <a:rPr lang="en-US" sz="1250" dirty="0"/>
              <a:t>backend/</a:t>
            </a:r>
            <a:r>
              <a:rPr lang="en-US" sz="1250" dirty="0" err="1"/>
              <a:t>src</a:t>
            </a:r>
            <a:r>
              <a:rPr lang="en-US" sz="1250" dirty="0"/>
              <a:t>/models/specOptModel.js</a:t>
            </a:r>
          </a:p>
        </p:txBody>
      </p:sp>
      <p:sp>
        <p:nvSpPr>
          <p:cNvPr id="38" name="Shape 5">
            <a:extLst>
              <a:ext uri="{FF2B5EF4-FFF2-40B4-BE49-F238E27FC236}">
                <a16:creationId xmlns:a16="http://schemas.microsoft.com/office/drawing/2014/main" id="{5570EC17-35B6-90D9-5696-5813D26EF262}"/>
              </a:ext>
            </a:extLst>
          </p:cNvPr>
          <p:cNvSpPr/>
          <p:nvPr/>
        </p:nvSpPr>
        <p:spPr>
          <a:xfrm>
            <a:off x="3749040" y="2468880"/>
            <a:ext cx="694944" cy="0"/>
          </a:xfrm>
          <a:prstGeom prst="line">
            <a:avLst/>
          </a:prstGeom>
          <a:noFill/>
          <a:ln w="19050">
            <a:solidFill>
              <a:srgbClr val="6E7681"/>
            </a:solidFill>
            <a:prstDash val="solid"/>
            <a:tailEnd type="triangle"/>
          </a:ln>
        </p:spPr>
        <p:txBody>
          <a:bodyPr/>
          <a:lstStyle/>
          <a:p>
            <a:endParaRPr lang="en-AU"/>
          </a:p>
        </p:txBody>
      </p:sp>
      <p:sp>
        <p:nvSpPr>
          <p:cNvPr id="40" name="Shape 6">
            <a:extLst>
              <a:ext uri="{FF2B5EF4-FFF2-40B4-BE49-F238E27FC236}">
                <a16:creationId xmlns:a16="http://schemas.microsoft.com/office/drawing/2014/main" id="{BC487EAE-474F-AEDA-130D-E8930A3DC355}"/>
              </a:ext>
            </a:extLst>
          </p:cNvPr>
          <p:cNvSpPr/>
          <p:nvPr/>
        </p:nvSpPr>
        <p:spPr>
          <a:xfrm>
            <a:off x="4626864"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42" name="Text 7">
            <a:extLst>
              <a:ext uri="{FF2B5EF4-FFF2-40B4-BE49-F238E27FC236}">
                <a16:creationId xmlns:a16="http://schemas.microsoft.com/office/drawing/2014/main" id="{AB43BF02-0030-4076-0FAA-1FDE0A04CA25}"/>
              </a:ext>
            </a:extLst>
          </p:cNvPr>
          <p:cNvSpPr/>
          <p:nvPr/>
        </p:nvSpPr>
        <p:spPr>
          <a:xfrm>
            <a:off x="4882896"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SpecOption</a:t>
            </a:r>
            <a:endParaRPr lang="en-US" sz="2000" dirty="0"/>
          </a:p>
        </p:txBody>
      </p:sp>
      <p:sp>
        <p:nvSpPr>
          <p:cNvPr id="44" name="Text 8">
            <a:extLst>
              <a:ext uri="{FF2B5EF4-FFF2-40B4-BE49-F238E27FC236}">
                <a16:creationId xmlns:a16="http://schemas.microsoft.com/office/drawing/2014/main" id="{78F618BD-1E8D-87BA-4A1D-A42F2DC81914}"/>
              </a:ext>
            </a:extLst>
          </p:cNvPr>
          <p:cNvSpPr/>
          <p:nvPr/>
        </p:nvSpPr>
        <p:spPr>
          <a:xfrm>
            <a:off x="4882896"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a product choice</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holds a pointer to current</a:t>
            </a:r>
            <a:endParaRPr lang="en-US" sz="1250" dirty="0"/>
          </a:p>
        </p:txBody>
      </p:sp>
      <p:sp>
        <p:nvSpPr>
          <p:cNvPr id="46" name="Shape 9">
            <a:extLst>
              <a:ext uri="{FF2B5EF4-FFF2-40B4-BE49-F238E27FC236}">
                <a16:creationId xmlns:a16="http://schemas.microsoft.com/office/drawing/2014/main" id="{22391D49-9560-DFF1-4360-2D8F2F5833D0}"/>
              </a:ext>
            </a:extLst>
          </p:cNvPr>
          <p:cNvSpPr/>
          <p:nvPr/>
        </p:nvSpPr>
        <p:spPr>
          <a:xfrm>
            <a:off x="7735824" y="2468880"/>
            <a:ext cx="694944" cy="0"/>
          </a:xfrm>
          <a:prstGeom prst="line">
            <a:avLst/>
          </a:prstGeom>
          <a:noFill/>
          <a:ln w="19050">
            <a:solidFill>
              <a:srgbClr val="6E7681"/>
            </a:solidFill>
            <a:prstDash val="solid"/>
            <a:tailEnd type="triangle"/>
          </a:ln>
        </p:spPr>
        <p:txBody>
          <a:bodyPr/>
          <a:lstStyle/>
          <a:p>
            <a:endParaRPr lang="en-AU"/>
          </a:p>
        </p:txBody>
      </p:sp>
    </p:spTree>
    <p:extLst>
      <p:ext uri="{BB962C8B-B14F-4D97-AF65-F5344CB8AC3E}">
        <p14:creationId xmlns:p14="http://schemas.microsoft.com/office/powerpoint/2010/main" val="598010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098715E-53B0-70E7-58DC-84B118B617B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EA38633-4D57-DD42-B43A-1E70C2A9651D}"/>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VERSIONING</a:t>
            </a:r>
            <a:endParaRPr lang="en-US" sz="1100" dirty="0"/>
          </a:p>
        </p:txBody>
      </p:sp>
      <p:sp>
        <p:nvSpPr>
          <p:cNvPr id="3" name="Text 1">
            <a:extLst>
              <a:ext uri="{FF2B5EF4-FFF2-40B4-BE49-F238E27FC236}">
                <a16:creationId xmlns:a16="http://schemas.microsoft.com/office/drawing/2014/main" id="{B7A04290-C163-A3A8-C8A1-162512E6B4DE}"/>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An edit adds a version — it never overwrites one</a:t>
            </a:r>
            <a:endParaRPr lang="en-US" sz="3400" dirty="0"/>
          </a:p>
        </p:txBody>
      </p:sp>
      <p:sp>
        <p:nvSpPr>
          <p:cNvPr id="11" name="Shape 9">
            <a:extLst>
              <a:ext uri="{FF2B5EF4-FFF2-40B4-BE49-F238E27FC236}">
                <a16:creationId xmlns:a16="http://schemas.microsoft.com/office/drawing/2014/main" id="{601B617F-36AD-A4B7-2DEE-CB46E72C674B}"/>
              </a:ext>
            </a:extLst>
          </p:cNvPr>
          <p:cNvSpPr/>
          <p:nvPr/>
        </p:nvSpPr>
        <p:spPr>
          <a:xfrm>
            <a:off x="7735824" y="2468880"/>
            <a:ext cx="694944" cy="0"/>
          </a:xfrm>
          <a:prstGeom prst="line">
            <a:avLst/>
          </a:prstGeom>
          <a:noFill/>
          <a:ln w="19050">
            <a:solidFill>
              <a:srgbClr val="6E7681"/>
            </a:solidFill>
            <a:prstDash val="solid"/>
            <a:tailEnd type="triangle"/>
          </a:ln>
        </p:spPr>
        <p:txBody>
          <a:bodyPr/>
          <a:lstStyle/>
          <a:p>
            <a:endParaRPr lang="en-AU"/>
          </a:p>
        </p:txBody>
      </p:sp>
      <p:sp>
        <p:nvSpPr>
          <p:cNvPr id="12" name="Shape 10">
            <a:extLst>
              <a:ext uri="{FF2B5EF4-FFF2-40B4-BE49-F238E27FC236}">
                <a16:creationId xmlns:a16="http://schemas.microsoft.com/office/drawing/2014/main" id="{2E6E9C9A-21A8-9B97-4972-0E80A1BCBEA0}"/>
              </a:ext>
            </a:extLst>
          </p:cNvPr>
          <p:cNvSpPr/>
          <p:nvPr/>
        </p:nvSpPr>
        <p:spPr>
          <a:xfrm>
            <a:off x="8613648" y="1783080"/>
            <a:ext cx="2926080" cy="1371600"/>
          </a:xfrm>
          <a:prstGeom prst="roundRect">
            <a:avLst>
              <a:gd name="adj" fmla="val 3333"/>
            </a:avLst>
          </a:prstGeom>
          <a:solidFill>
            <a:srgbClr val="F2F1EE"/>
          </a:solidFill>
          <a:ln w="12700">
            <a:solidFill>
              <a:srgbClr val="D8D6D1"/>
            </a:solidFill>
            <a:prstDash val="solid"/>
          </a:ln>
        </p:spPr>
        <p:txBody>
          <a:bodyPr/>
          <a:lstStyle/>
          <a:p>
            <a:endParaRPr lang="en-AU"/>
          </a:p>
        </p:txBody>
      </p:sp>
      <p:sp>
        <p:nvSpPr>
          <p:cNvPr id="13" name="Text 11">
            <a:extLst>
              <a:ext uri="{FF2B5EF4-FFF2-40B4-BE49-F238E27FC236}">
                <a16:creationId xmlns:a16="http://schemas.microsoft.com/office/drawing/2014/main" id="{2EF3793C-0E88-B4CE-1D7A-1974F0CB704A}"/>
              </a:ext>
            </a:extLst>
          </p:cNvPr>
          <p:cNvSpPr/>
          <p:nvPr/>
        </p:nvSpPr>
        <p:spPr>
          <a:xfrm>
            <a:off x="8869680" y="1956816"/>
            <a:ext cx="2414016" cy="365760"/>
          </a:xfrm>
          <a:prstGeom prst="rect">
            <a:avLst/>
          </a:prstGeom>
          <a:noFill/>
          <a:ln/>
        </p:spPr>
        <p:txBody>
          <a:bodyPr wrap="square" lIns="0" tIns="0" rIns="0" bIns="0" rtlCol="0" anchor="ctr"/>
          <a:lstStyle/>
          <a:p>
            <a:pPr marL="0" indent="0">
              <a:buNone/>
            </a:pPr>
            <a:r>
              <a:rPr lang="en-US" sz="2000" b="1" dirty="0">
                <a:solidFill>
                  <a:srgbClr val="2B3440"/>
                </a:solidFill>
                <a:latin typeface="Cambria" pitchFamily="34" charset="0"/>
                <a:ea typeface="Cambria" pitchFamily="34" charset="-122"/>
                <a:cs typeface="Cambria" pitchFamily="34" charset="-120"/>
              </a:rPr>
              <a:t>SpecVersion</a:t>
            </a:r>
            <a:endParaRPr lang="en-US" sz="2000" dirty="0"/>
          </a:p>
        </p:txBody>
      </p:sp>
      <p:sp>
        <p:nvSpPr>
          <p:cNvPr id="14" name="Text 12">
            <a:extLst>
              <a:ext uri="{FF2B5EF4-FFF2-40B4-BE49-F238E27FC236}">
                <a16:creationId xmlns:a16="http://schemas.microsoft.com/office/drawing/2014/main" id="{38BD5ED9-27D2-848C-D0AD-630EA52414F7}"/>
              </a:ext>
            </a:extLst>
          </p:cNvPr>
          <p:cNvSpPr/>
          <p:nvPr/>
        </p:nvSpPr>
        <p:spPr>
          <a:xfrm>
            <a:off x="8869680" y="2377440"/>
            <a:ext cx="2414016" cy="640080"/>
          </a:xfrm>
          <a:prstGeom prst="rect">
            <a:avLst/>
          </a:prstGeom>
          <a:noFill/>
          <a:ln/>
        </p:spPr>
        <p:txBody>
          <a:bodyPr wrap="square" lIns="0" tIns="0" rIns="0" bIns="0" rtlCol="0" anchor="ctr"/>
          <a:lstStyle/>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immutable snapshot</a:t>
            </a:r>
            <a:endParaRPr lang="en-US" sz="1250" dirty="0"/>
          </a:p>
          <a:p>
            <a:pPr marL="0" indent="0">
              <a:lnSpc>
                <a:spcPts val="1600"/>
              </a:lnSpc>
              <a:buNone/>
            </a:pPr>
            <a:r>
              <a:rPr lang="en-US" sz="1250" dirty="0">
                <a:solidFill>
                  <a:srgbClr val="4A5260"/>
                </a:solidFill>
                <a:latin typeface="Calibri" pitchFamily="34" charset="0"/>
                <a:ea typeface="Calibri" pitchFamily="34" charset="-122"/>
                <a:cs typeface="Calibri" pitchFamily="34" charset="-120"/>
              </a:rPr>
              <a:t>of the text</a:t>
            </a:r>
            <a:endParaRPr lang="en-US" sz="1250" dirty="0"/>
          </a:p>
        </p:txBody>
      </p:sp>
      <p:pic>
        <p:nvPicPr>
          <p:cNvPr id="32" name="Picture 31">
            <a:extLst>
              <a:ext uri="{FF2B5EF4-FFF2-40B4-BE49-F238E27FC236}">
                <a16:creationId xmlns:a16="http://schemas.microsoft.com/office/drawing/2014/main" id="{DF339C19-F358-3115-3EAC-1769DDC8BEC3}"/>
              </a:ext>
            </a:extLst>
          </p:cNvPr>
          <p:cNvPicPr>
            <a:picLocks noChangeAspect="1"/>
          </p:cNvPicPr>
          <p:nvPr/>
        </p:nvPicPr>
        <p:blipFill>
          <a:blip r:embed="rId3"/>
          <a:stretch>
            <a:fillRect/>
          </a:stretch>
        </p:blipFill>
        <p:spPr>
          <a:xfrm>
            <a:off x="2920728" y="3478178"/>
            <a:ext cx="6530906" cy="2514818"/>
          </a:xfrm>
          <a:prstGeom prst="rect">
            <a:avLst/>
          </a:prstGeom>
        </p:spPr>
      </p:pic>
      <p:sp>
        <p:nvSpPr>
          <p:cNvPr id="34" name="Text 4">
            <a:extLst>
              <a:ext uri="{FF2B5EF4-FFF2-40B4-BE49-F238E27FC236}">
                <a16:creationId xmlns:a16="http://schemas.microsoft.com/office/drawing/2014/main" id="{F2D30A33-D3EC-E4AC-1442-6AF77ADCF7FA}"/>
              </a:ext>
            </a:extLst>
          </p:cNvPr>
          <p:cNvSpPr/>
          <p:nvPr/>
        </p:nvSpPr>
        <p:spPr>
          <a:xfrm>
            <a:off x="2920728" y="5992996"/>
            <a:ext cx="4633791" cy="335545"/>
          </a:xfrm>
          <a:prstGeom prst="rect">
            <a:avLst/>
          </a:prstGeom>
          <a:noFill/>
          <a:ln/>
        </p:spPr>
        <p:txBody>
          <a:bodyPr wrap="square" lIns="0" tIns="0" rIns="0" bIns="0" rtlCol="0" anchor="ctr"/>
          <a:lstStyle/>
          <a:p>
            <a:pPr marL="0" indent="0">
              <a:lnSpc>
                <a:spcPts val="1600"/>
              </a:lnSpc>
              <a:buNone/>
            </a:pPr>
            <a:r>
              <a:rPr lang="sv-SE" sz="1250" dirty="0"/>
              <a:t>backend/src/models/specVerModel.js</a:t>
            </a:r>
            <a:endParaRPr lang="en-US" sz="1250" dirty="0"/>
          </a:p>
        </p:txBody>
      </p:sp>
    </p:spTree>
    <p:extLst>
      <p:ext uri="{BB962C8B-B14F-4D97-AF65-F5344CB8AC3E}">
        <p14:creationId xmlns:p14="http://schemas.microsoft.com/office/powerpoint/2010/main" val="892259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AB4A136-E47F-21E6-35E3-75D196C31C4B}"/>
            </a:ext>
          </a:extLst>
        </p:cNvPr>
        <p:cNvGrpSpPr/>
        <p:nvPr/>
      </p:nvGrpSpPr>
      <p:grpSpPr>
        <a:xfrm>
          <a:off x="0" y="0"/>
          <a:ext cx="0" cy="0"/>
          <a:chOff x="0" y="0"/>
          <a:chExt cx="0" cy="0"/>
        </a:xfrm>
      </p:grpSpPr>
      <p:sp>
        <p:nvSpPr>
          <p:cNvPr id="48" name="Shape 13">
            <a:extLst>
              <a:ext uri="{FF2B5EF4-FFF2-40B4-BE49-F238E27FC236}">
                <a16:creationId xmlns:a16="http://schemas.microsoft.com/office/drawing/2014/main" id="{82732108-4DDD-8360-FA61-6E80225EEA32}"/>
              </a:ext>
            </a:extLst>
          </p:cNvPr>
          <p:cNvSpPr/>
          <p:nvPr/>
        </p:nvSpPr>
        <p:spPr>
          <a:xfrm>
            <a:off x="5901385" y="1396695"/>
            <a:ext cx="5839732" cy="1644623"/>
          </a:xfrm>
          <a:prstGeom prst="roundRect">
            <a:avLst>
              <a:gd name="adj" fmla="val 1961"/>
            </a:avLst>
          </a:prstGeom>
          <a:solidFill>
            <a:srgbClr val="2B3440"/>
          </a:solidFill>
          <a:ln w="12700">
            <a:solidFill>
              <a:srgbClr val="2B3440"/>
            </a:solidFill>
            <a:prstDash val="solid"/>
          </a:ln>
        </p:spPr>
        <p:txBody>
          <a:bodyPr/>
          <a:lstStyle/>
          <a:p>
            <a:endParaRPr lang="en-AU"/>
          </a:p>
        </p:txBody>
      </p:sp>
      <p:sp>
        <p:nvSpPr>
          <p:cNvPr id="44" name="Shape 13">
            <a:extLst>
              <a:ext uri="{FF2B5EF4-FFF2-40B4-BE49-F238E27FC236}">
                <a16:creationId xmlns:a16="http://schemas.microsoft.com/office/drawing/2014/main" id="{1F489912-033D-C9FF-277C-A791B5843B85}"/>
              </a:ext>
            </a:extLst>
          </p:cNvPr>
          <p:cNvSpPr/>
          <p:nvPr/>
        </p:nvSpPr>
        <p:spPr>
          <a:xfrm>
            <a:off x="299541" y="3542363"/>
            <a:ext cx="5300236" cy="3200883"/>
          </a:xfrm>
          <a:prstGeom prst="roundRect">
            <a:avLst>
              <a:gd name="adj" fmla="val 1961"/>
            </a:avLst>
          </a:prstGeom>
          <a:solidFill>
            <a:srgbClr val="2B3440"/>
          </a:solidFill>
          <a:ln w="12700">
            <a:solidFill>
              <a:srgbClr val="2B3440"/>
            </a:solidFill>
            <a:prstDash val="solid"/>
          </a:ln>
        </p:spPr>
        <p:txBody>
          <a:bodyPr/>
          <a:lstStyle/>
          <a:p>
            <a:endParaRPr lang="en-AU"/>
          </a:p>
        </p:txBody>
      </p:sp>
      <p:sp>
        <p:nvSpPr>
          <p:cNvPr id="38" name="Shape 13">
            <a:extLst>
              <a:ext uri="{FF2B5EF4-FFF2-40B4-BE49-F238E27FC236}">
                <a16:creationId xmlns:a16="http://schemas.microsoft.com/office/drawing/2014/main" id="{D005202B-A15F-9D51-222A-F788AEE24D36}"/>
              </a:ext>
            </a:extLst>
          </p:cNvPr>
          <p:cNvSpPr/>
          <p:nvPr/>
        </p:nvSpPr>
        <p:spPr>
          <a:xfrm>
            <a:off x="5901385" y="3166173"/>
            <a:ext cx="5803156" cy="3577073"/>
          </a:xfrm>
          <a:prstGeom prst="roundRect">
            <a:avLst>
              <a:gd name="adj" fmla="val 1961"/>
            </a:avLst>
          </a:prstGeom>
          <a:solidFill>
            <a:srgbClr val="2B3440"/>
          </a:solidFill>
          <a:ln w="12700">
            <a:solidFill>
              <a:srgbClr val="2B3440"/>
            </a:solidFill>
            <a:prstDash val="solid"/>
          </a:ln>
        </p:spPr>
        <p:txBody>
          <a:bodyPr/>
          <a:lstStyle/>
          <a:p>
            <a:endParaRPr lang="en-AU" dirty="0"/>
          </a:p>
        </p:txBody>
      </p:sp>
      <p:sp>
        <p:nvSpPr>
          <p:cNvPr id="2" name="Text 0">
            <a:extLst>
              <a:ext uri="{FF2B5EF4-FFF2-40B4-BE49-F238E27FC236}">
                <a16:creationId xmlns:a16="http://schemas.microsoft.com/office/drawing/2014/main" id="{A2DC8A3F-1566-C138-A986-EE36EC960222}"/>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VERSIONING</a:t>
            </a:r>
            <a:endParaRPr lang="en-US" sz="1100" dirty="0"/>
          </a:p>
        </p:txBody>
      </p:sp>
      <p:sp>
        <p:nvSpPr>
          <p:cNvPr id="3" name="Text 1">
            <a:extLst>
              <a:ext uri="{FF2B5EF4-FFF2-40B4-BE49-F238E27FC236}">
                <a16:creationId xmlns:a16="http://schemas.microsoft.com/office/drawing/2014/main" id="{FF23B4ED-C1EE-F3E7-2A14-D6EF8F6E9535}"/>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What happens when someone edits a spec</a:t>
            </a:r>
            <a:endParaRPr lang="en-US" sz="3400" dirty="0"/>
          </a:p>
        </p:txBody>
      </p:sp>
      <p:sp>
        <p:nvSpPr>
          <p:cNvPr id="15" name="Shape 13">
            <a:extLst>
              <a:ext uri="{FF2B5EF4-FFF2-40B4-BE49-F238E27FC236}">
                <a16:creationId xmlns:a16="http://schemas.microsoft.com/office/drawing/2014/main" id="{F321EDE6-4E16-DD37-695B-22A6FAAC3B3F}"/>
              </a:ext>
            </a:extLst>
          </p:cNvPr>
          <p:cNvSpPr/>
          <p:nvPr/>
        </p:nvSpPr>
        <p:spPr>
          <a:xfrm>
            <a:off x="295435" y="1396695"/>
            <a:ext cx="5300236" cy="1918943"/>
          </a:xfrm>
          <a:prstGeom prst="roundRect">
            <a:avLst>
              <a:gd name="adj" fmla="val 1961"/>
            </a:avLst>
          </a:prstGeom>
          <a:solidFill>
            <a:srgbClr val="2B3440"/>
          </a:solidFill>
          <a:ln w="12700">
            <a:solidFill>
              <a:srgbClr val="2B3440"/>
            </a:solidFill>
            <a:prstDash val="solid"/>
          </a:ln>
        </p:spPr>
        <p:txBody>
          <a:bodyPr/>
          <a:lstStyle/>
          <a:p>
            <a:endParaRPr lang="en-AU"/>
          </a:p>
        </p:txBody>
      </p:sp>
      <p:sp>
        <p:nvSpPr>
          <p:cNvPr id="17" name="Shape 15">
            <a:extLst>
              <a:ext uri="{FF2B5EF4-FFF2-40B4-BE49-F238E27FC236}">
                <a16:creationId xmlns:a16="http://schemas.microsoft.com/office/drawing/2014/main" id="{47FE5FB8-84DB-0281-59A3-3D16B9AC0625}"/>
              </a:ext>
            </a:extLst>
          </p:cNvPr>
          <p:cNvSpPr/>
          <p:nvPr/>
        </p:nvSpPr>
        <p:spPr>
          <a:xfrm>
            <a:off x="487459" y="1472490"/>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8" name="Text 16">
            <a:extLst>
              <a:ext uri="{FF2B5EF4-FFF2-40B4-BE49-F238E27FC236}">
                <a16:creationId xmlns:a16="http://schemas.microsoft.com/office/drawing/2014/main" id="{3C10D2D9-FD87-A37B-585B-72972EDDCE32}"/>
              </a:ext>
            </a:extLst>
          </p:cNvPr>
          <p:cNvSpPr/>
          <p:nvPr/>
        </p:nvSpPr>
        <p:spPr>
          <a:xfrm>
            <a:off x="487459" y="1472490"/>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9" name="Text 17">
            <a:extLst>
              <a:ext uri="{FF2B5EF4-FFF2-40B4-BE49-F238E27FC236}">
                <a16:creationId xmlns:a16="http://schemas.microsoft.com/office/drawing/2014/main" id="{39B259EF-A80A-65A5-C7BF-28713CC0404C}"/>
              </a:ext>
            </a:extLst>
          </p:cNvPr>
          <p:cNvSpPr/>
          <p:nvPr/>
        </p:nvSpPr>
        <p:spPr>
          <a:xfrm>
            <a:off x="990379" y="1490778"/>
            <a:ext cx="5061857" cy="292608"/>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The old version is left exactly as it is</a:t>
            </a:r>
            <a:endParaRPr lang="en-US" sz="1450" dirty="0"/>
          </a:p>
        </p:txBody>
      </p:sp>
      <p:sp>
        <p:nvSpPr>
          <p:cNvPr id="20" name="Shape 18">
            <a:extLst>
              <a:ext uri="{FF2B5EF4-FFF2-40B4-BE49-F238E27FC236}">
                <a16:creationId xmlns:a16="http://schemas.microsoft.com/office/drawing/2014/main" id="{4D042596-913A-DEE3-993E-15F0D971A2F1}"/>
              </a:ext>
            </a:extLst>
          </p:cNvPr>
          <p:cNvSpPr/>
          <p:nvPr/>
        </p:nvSpPr>
        <p:spPr>
          <a:xfrm>
            <a:off x="495484" y="3706756"/>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1" name="Text 19">
            <a:extLst>
              <a:ext uri="{FF2B5EF4-FFF2-40B4-BE49-F238E27FC236}">
                <a16:creationId xmlns:a16="http://schemas.microsoft.com/office/drawing/2014/main" id="{C6FBEC4F-0779-1048-1262-7EF85B35DD54}"/>
              </a:ext>
            </a:extLst>
          </p:cNvPr>
          <p:cNvSpPr/>
          <p:nvPr/>
        </p:nvSpPr>
        <p:spPr>
          <a:xfrm>
            <a:off x="495484" y="370675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20">
            <a:extLst>
              <a:ext uri="{FF2B5EF4-FFF2-40B4-BE49-F238E27FC236}">
                <a16:creationId xmlns:a16="http://schemas.microsoft.com/office/drawing/2014/main" id="{88F3EFEB-921D-AA32-2AF7-AE90D6C884D1}"/>
              </a:ext>
            </a:extLst>
          </p:cNvPr>
          <p:cNvSpPr/>
          <p:nvPr/>
        </p:nvSpPr>
        <p:spPr>
          <a:xfrm>
            <a:off x="998404" y="3725044"/>
            <a:ext cx="3651504" cy="292608"/>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A new SpecVersion is written, numbered 2</a:t>
            </a:r>
            <a:endParaRPr lang="en-US" sz="1450" dirty="0"/>
          </a:p>
        </p:txBody>
      </p:sp>
      <p:sp>
        <p:nvSpPr>
          <p:cNvPr id="23" name="Shape 21">
            <a:extLst>
              <a:ext uri="{FF2B5EF4-FFF2-40B4-BE49-F238E27FC236}">
                <a16:creationId xmlns:a16="http://schemas.microsoft.com/office/drawing/2014/main" id="{374BC274-10CD-2E12-1655-97723D75F264}"/>
              </a:ext>
            </a:extLst>
          </p:cNvPr>
          <p:cNvSpPr/>
          <p:nvPr/>
        </p:nvSpPr>
        <p:spPr>
          <a:xfrm>
            <a:off x="6096000" y="1454202"/>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4" name="Text 22">
            <a:extLst>
              <a:ext uri="{FF2B5EF4-FFF2-40B4-BE49-F238E27FC236}">
                <a16:creationId xmlns:a16="http://schemas.microsoft.com/office/drawing/2014/main" id="{FA61B551-9A18-6A4D-9C19-AE5555AB0CDA}"/>
              </a:ext>
            </a:extLst>
          </p:cNvPr>
          <p:cNvSpPr/>
          <p:nvPr/>
        </p:nvSpPr>
        <p:spPr>
          <a:xfrm>
            <a:off x="6096000" y="1454202"/>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5" name="Text 23">
            <a:extLst>
              <a:ext uri="{FF2B5EF4-FFF2-40B4-BE49-F238E27FC236}">
                <a16:creationId xmlns:a16="http://schemas.microsoft.com/office/drawing/2014/main" id="{405DF8B6-02DE-FE6C-194E-8C132220BADF}"/>
              </a:ext>
            </a:extLst>
          </p:cNvPr>
          <p:cNvSpPr/>
          <p:nvPr/>
        </p:nvSpPr>
        <p:spPr>
          <a:xfrm>
            <a:off x="6598920" y="1472490"/>
            <a:ext cx="3971544" cy="320040"/>
          </a:xfrm>
          <a:prstGeom prst="rect">
            <a:avLst/>
          </a:prstGeom>
          <a:noFill/>
          <a:ln/>
        </p:spPr>
        <p:txBody>
          <a:bodyPr wrap="square" lIns="0" tIns="0" rIns="0" bIns="0" rtlCol="0" anchor="ctr"/>
          <a:lstStyle/>
          <a:p>
            <a:pPr marL="0" indent="0">
              <a:buNone/>
            </a:pPr>
            <a:r>
              <a:rPr lang="en-US" sz="1450" dirty="0">
                <a:solidFill>
                  <a:srgbClr val="FFFFFF"/>
                </a:solidFill>
                <a:latin typeface="Calibri" pitchFamily="34" charset="0"/>
                <a:ea typeface="Calibri" pitchFamily="34" charset="-122"/>
                <a:cs typeface="Calibri" pitchFamily="34" charset="-120"/>
              </a:rPr>
              <a:t>SpecOption.currentVersionID moves to point at it</a:t>
            </a:r>
            <a:endParaRPr lang="en-US" sz="1450" dirty="0"/>
          </a:p>
        </p:txBody>
      </p:sp>
      <p:sp>
        <p:nvSpPr>
          <p:cNvPr id="26" name="Shape 24">
            <a:extLst>
              <a:ext uri="{FF2B5EF4-FFF2-40B4-BE49-F238E27FC236}">
                <a16:creationId xmlns:a16="http://schemas.microsoft.com/office/drawing/2014/main" id="{2862EF93-C4B4-DFA6-5B56-86B3B2571843}"/>
              </a:ext>
            </a:extLst>
          </p:cNvPr>
          <p:cNvSpPr/>
          <p:nvPr/>
        </p:nvSpPr>
        <p:spPr>
          <a:xfrm>
            <a:off x="6096678" y="331785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27" name="Text 25">
            <a:extLst>
              <a:ext uri="{FF2B5EF4-FFF2-40B4-BE49-F238E27FC236}">
                <a16:creationId xmlns:a16="http://schemas.microsoft.com/office/drawing/2014/main" id="{D84F4C1D-DE4C-06DA-0FE7-7561BC8F88E4}"/>
              </a:ext>
            </a:extLst>
          </p:cNvPr>
          <p:cNvSpPr/>
          <p:nvPr/>
        </p:nvSpPr>
        <p:spPr>
          <a:xfrm>
            <a:off x="6096678" y="331785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a:extLst>
              <a:ext uri="{FF2B5EF4-FFF2-40B4-BE49-F238E27FC236}">
                <a16:creationId xmlns:a16="http://schemas.microsoft.com/office/drawing/2014/main" id="{81A9394C-4FC4-EA9B-0D36-7B6A8207B4F0}"/>
              </a:ext>
            </a:extLst>
          </p:cNvPr>
          <p:cNvSpPr/>
          <p:nvPr/>
        </p:nvSpPr>
        <p:spPr>
          <a:xfrm>
            <a:off x="6606945" y="3268980"/>
            <a:ext cx="5097596" cy="320040"/>
          </a:xfrm>
          <a:prstGeom prst="rect">
            <a:avLst/>
          </a:prstGeom>
          <a:noFill/>
          <a:ln/>
        </p:spPr>
        <p:txBody>
          <a:bodyPr wrap="square" lIns="0" tIns="0" rIns="0" bIns="0" rtlCol="0" anchor="ctr"/>
          <a:lstStyle/>
          <a:p>
            <a:r>
              <a:rPr lang="en-GB" sz="1450" dirty="0">
                <a:solidFill>
                  <a:srgbClr val="FFFFFF"/>
                </a:solidFill>
                <a:latin typeface="Calibri" pitchFamily="34" charset="0"/>
                <a:ea typeface="Calibri" pitchFamily="34" charset="-122"/>
                <a:cs typeface="Calibri" pitchFamily="34" charset="-120"/>
              </a:rPr>
              <a:t>Any read follows the pointer, so it lands on the new version</a:t>
            </a:r>
            <a:endParaRPr lang="en-US" sz="1450" dirty="0"/>
          </a:p>
        </p:txBody>
      </p:sp>
      <p:pic>
        <p:nvPicPr>
          <p:cNvPr id="40" name="Picture 39">
            <a:extLst>
              <a:ext uri="{FF2B5EF4-FFF2-40B4-BE49-F238E27FC236}">
                <a16:creationId xmlns:a16="http://schemas.microsoft.com/office/drawing/2014/main" id="{4E0D34DC-87D7-8301-880B-1C6060AC51D0}"/>
              </a:ext>
            </a:extLst>
          </p:cNvPr>
          <p:cNvPicPr>
            <a:picLocks noChangeAspect="1"/>
          </p:cNvPicPr>
          <p:nvPr/>
        </p:nvPicPr>
        <p:blipFill>
          <a:blip r:embed="rId3"/>
          <a:stretch>
            <a:fillRect/>
          </a:stretch>
        </p:blipFill>
        <p:spPr>
          <a:xfrm>
            <a:off x="450883" y="1897335"/>
            <a:ext cx="4991533" cy="883997"/>
          </a:xfrm>
          <a:prstGeom prst="rect">
            <a:avLst/>
          </a:prstGeom>
        </p:spPr>
      </p:pic>
      <p:sp>
        <p:nvSpPr>
          <p:cNvPr id="42" name="Text 17">
            <a:extLst>
              <a:ext uri="{FF2B5EF4-FFF2-40B4-BE49-F238E27FC236}">
                <a16:creationId xmlns:a16="http://schemas.microsoft.com/office/drawing/2014/main" id="{AA596B40-5EB4-F51B-384B-5D990A238991}"/>
              </a:ext>
            </a:extLst>
          </p:cNvPr>
          <p:cNvSpPr/>
          <p:nvPr/>
        </p:nvSpPr>
        <p:spPr>
          <a:xfrm>
            <a:off x="491378" y="2873565"/>
            <a:ext cx="5061857" cy="292608"/>
          </a:xfrm>
          <a:prstGeom prst="rect">
            <a:avLst/>
          </a:prstGeom>
          <a:noFill/>
          <a:ln/>
        </p:spPr>
        <p:txBody>
          <a:bodyPr wrap="square" lIns="0" tIns="0" rIns="0" bIns="0" rtlCol="0" anchor="ctr"/>
          <a:lstStyle/>
          <a:p>
            <a:pPr marL="0" indent="0">
              <a:buNone/>
            </a:pPr>
            <a:r>
              <a:rPr lang="en-GB" sz="1450" dirty="0">
                <a:solidFill>
                  <a:srgbClr val="FFFFFF"/>
                </a:solidFill>
                <a:latin typeface="Calibri" pitchFamily="34" charset="0"/>
                <a:ea typeface="Calibri" pitchFamily="34" charset="-122"/>
                <a:cs typeface="Calibri" pitchFamily="34" charset="-120"/>
              </a:rPr>
              <a:t>The existing version is only ever </a:t>
            </a:r>
            <a:r>
              <a:rPr lang="en-GB" sz="1450" b="1" dirty="0">
                <a:solidFill>
                  <a:srgbClr val="FFFFFF"/>
                </a:solidFill>
                <a:latin typeface="Calibri" pitchFamily="34" charset="0"/>
                <a:ea typeface="Calibri" pitchFamily="34" charset="-122"/>
                <a:cs typeface="Calibri" pitchFamily="34" charset="-120"/>
              </a:rPr>
              <a:t>read</a:t>
            </a:r>
            <a:r>
              <a:rPr lang="en-GB" sz="1450" dirty="0">
                <a:solidFill>
                  <a:srgbClr val="FFFFFF"/>
                </a:solidFill>
                <a:latin typeface="Calibri" pitchFamily="34" charset="0"/>
                <a:ea typeface="Calibri" pitchFamily="34" charset="-122"/>
                <a:cs typeface="Calibri" pitchFamily="34" charset="-120"/>
              </a:rPr>
              <a:t>, to find out what number to use next.</a:t>
            </a:r>
            <a:endParaRPr lang="en-US" sz="1450" dirty="0"/>
          </a:p>
        </p:txBody>
      </p:sp>
      <p:pic>
        <p:nvPicPr>
          <p:cNvPr id="46" name="Picture 45">
            <a:extLst>
              <a:ext uri="{FF2B5EF4-FFF2-40B4-BE49-F238E27FC236}">
                <a16:creationId xmlns:a16="http://schemas.microsoft.com/office/drawing/2014/main" id="{1B7D088A-C8B5-E3E3-64A4-9A44FD35F8E3}"/>
              </a:ext>
            </a:extLst>
          </p:cNvPr>
          <p:cNvPicPr>
            <a:picLocks noChangeAspect="1"/>
          </p:cNvPicPr>
          <p:nvPr/>
        </p:nvPicPr>
        <p:blipFill>
          <a:blip r:embed="rId4"/>
          <a:stretch>
            <a:fillRect/>
          </a:stretch>
        </p:blipFill>
        <p:spPr>
          <a:xfrm>
            <a:off x="487459" y="4089862"/>
            <a:ext cx="4892464" cy="2453853"/>
          </a:xfrm>
          <a:prstGeom prst="rect">
            <a:avLst/>
          </a:prstGeom>
        </p:spPr>
      </p:pic>
      <p:pic>
        <p:nvPicPr>
          <p:cNvPr id="50" name="Picture 49">
            <a:extLst>
              <a:ext uri="{FF2B5EF4-FFF2-40B4-BE49-F238E27FC236}">
                <a16:creationId xmlns:a16="http://schemas.microsoft.com/office/drawing/2014/main" id="{E1CEBDE2-E759-90AF-5F97-CD00A3B2B703}"/>
              </a:ext>
            </a:extLst>
          </p:cNvPr>
          <p:cNvPicPr>
            <a:picLocks noChangeAspect="1"/>
          </p:cNvPicPr>
          <p:nvPr/>
        </p:nvPicPr>
        <p:blipFill>
          <a:blip r:embed="rId5"/>
          <a:stretch>
            <a:fillRect/>
          </a:stretch>
        </p:blipFill>
        <p:spPr>
          <a:xfrm>
            <a:off x="6490114" y="1822636"/>
            <a:ext cx="4122777" cy="1082134"/>
          </a:xfrm>
          <a:prstGeom prst="rect">
            <a:avLst/>
          </a:prstGeom>
        </p:spPr>
      </p:pic>
      <p:pic>
        <p:nvPicPr>
          <p:cNvPr id="52" name="Picture 51">
            <a:extLst>
              <a:ext uri="{FF2B5EF4-FFF2-40B4-BE49-F238E27FC236}">
                <a16:creationId xmlns:a16="http://schemas.microsoft.com/office/drawing/2014/main" id="{1CD72E6A-330F-FECD-B250-54413C19B7F2}"/>
              </a:ext>
            </a:extLst>
          </p:cNvPr>
          <p:cNvPicPr>
            <a:picLocks noChangeAspect="1"/>
          </p:cNvPicPr>
          <p:nvPr/>
        </p:nvPicPr>
        <p:blipFill>
          <a:blip r:embed="rId6"/>
          <a:stretch>
            <a:fillRect/>
          </a:stretch>
        </p:blipFill>
        <p:spPr>
          <a:xfrm>
            <a:off x="6490115" y="3713875"/>
            <a:ext cx="4238845" cy="2914206"/>
          </a:xfrm>
          <a:prstGeom prst="rect">
            <a:avLst/>
          </a:prstGeom>
        </p:spPr>
      </p:pic>
    </p:spTree>
    <p:extLst>
      <p:ext uri="{BB962C8B-B14F-4D97-AF65-F5344CB8AC3E}">
        <p14:creationId xmlns:p14="http://schemas.microsoft.com/office/powerpoint/2010/main" val="2311021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FRONTEND</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Making a web grid behave like a spreadsheet</a:t>
            </a:r>
            <a:endParaRPr lang="en-US" sz="3400" dirty="0"/>
          </a:p>
        </p:txBody>
      </p:sp>
      <p:sp>
        <p:nvSpPr>
          <p:cNvPr id="4" name="Shape 2"/>
          <p:cNvSpPr/>
          <p:nvPr/>
        </p:nvSpPr>
        <p:spPr>
          <a:xfrm>
            <a:off x="640080" y="1737360"/>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5" name="Shape 3"/>
          <p:cNvSpPr/>
          <p:nvPr/>
        </p:nvSpPr>
        <p:spPr>
          <a:xfrm>
            <a:off x="932688" y="2212848"/>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6" name="Text 4"/>
          <p:cNvSpPr/>
          <p:nvPr/>
        </p:nvSpPr>
        <p:spPr>
          <a:xfrm>
            <a:off x="932688" y="221284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508760" y="2184118"/>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Multi-line editing inside a cell</a:t>
            </a:r>
            <a:endParaRPr lang="en-US" sz="1650" dirty="0"/>
          </a:p>
        </p:txBody>
      </p:sp>
      <p:sp>
        <p:nvSpPr>
          <p:cNvPr id="9" name="Shape 7"/>
          <p:cNvSpPr/>
          <p:nvPr/>
        </p:nvSpPr>
        <p:spPr>
          <a:xfrm>
            <a:off x="640080" y="3310128"/>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10" name="Shape 8"/>
          <p:cNvSpPr/>
          <p:nvPr/>
        </p:nvSpPr>
        <p:spPr>
          <a:xfrm>
            <a:off x="932688" y="3785616"/>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1" name="Text 9"/>
          <p:cNvSpPr/>
          <p:nvPr/>
        </p:nvSpPr>
        <p:spPr>
          <a:xfrm>
            <a:off x="932688" y="3785616"/>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508760" y="3785616"/>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Images rendered in the row</a:t>
            </a:r>
            <a:endParaRPr lang="en-US" sz="1650" dirty="0"/>
          </a:p>
        </p:txBody>
      </p:sp>
      <p:sp>
        <p:nvSpPr>
          <p:cNvPr id="14" name="Shape 12"/>
          <p:cNvSpPr/>
          <p:nvPr/>
        </p:nvSpPr>
        <p:spPr>
          <a:xfrm>
            <a:off x="640080" y="4882896"/>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15" name="Shape 13"/>
          <p:cNvSpPr/>
          <p:nvPr/>
        </p:nvSpPr>
        <p:spPr>
          <a:xfrm>
            <a:off x="932688" y="535838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6" name="Text 14"/>
          <p:cNvSpPr/>
          <p:nvPr/>
        </p:nvSpPr>
        <p:spPr>
          <a:xfrm>
            <a:off x="932688" y="535838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508760" y="5358384"/>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Filtering without the round trip</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29818D-92C4-4EB5-D0CC-7CFA9F1A8FC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C476AF-B013-6A6D-FD60-54BB55D6E22B}"/>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FRONTEND</a:t>
            </a:r>
            <a:endParaRPr lang="en-US" sz="1100" dirty="0"/>
          </a:p>
        </p:txBody>
      </p:sp>
      <p:sp>
        <p:nvSpPr>
          <p:cNvPr id="3" name="Text 1">
            <a:extLst>
              <a:ext uri="{FF2B5EF4-FFF2-40B4-BE49-F238E27FC236}">
                <a16:creationId xmlns:a16="http://schemas.microsoft.com/office/drawing/2014/main" id="{BFC32A53-BB16-9704-C858-B268772273EF}"/>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Making a web grid behave like a spreadsheet</a:t>
            </a:r>
            <a:endParaRPr lang="en-US" sz="3400" dirty="0"/>
          </a:p>
        </p:txBody>
      </p:sp>
      <p:sp>
        <p:nvSpPr>
          <p:cNvPr id="4" name="Shape 2">
            <a:extLst>
              <a:ext uri="{FF2B5EF4-FFF2-40B4-BE49-F238E27FC236}">
                <a16:creationId xmlns:a16="http://schemas.microsoft.com/office/drawing/2014/main" id="{6B7937B4-C84A-E484-FF0D-BD26D44EDFA5}"/>
              </a:ext>
            </a:extLst>
          </p:cNvPr>
          <p:cNvSpPr/>
          <p:nvPr/>
        </p:nvSpPr>
        <p:spPr>
          <a:xfrm>
            <a:off x="640080" y="1737360"/>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5" name="Shape 3">
            <a:extLst>
              <a:ext uri="{FF2B5EF4-FFF2-40B4-BE49-F238E27FC236}">
                <a16:creationId xmlns:a16="http://schemas.microsoft.com/office/drawing/2014/main" id="{568BE897-63A4-5BE0-2FCF-0EA0431499B8}"/>
              </a:ext>
            </a:extLst>
          </p:cNvPr>
          <p:cNvSpPr/>
          <p:nvPr/>
        </p:nvSpPr>
        <p:spPr>
          <a:xfrm>
            <a:off x="932688" y="2212848"/>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6" name="Text 4">
            <a:extLst>
              <a:ext uri="{FF2B5EF4-FFF2-40B4-BE49-F238E27FC236}">
                <a16:creationId xmlns:a16="http://schemas.microsoft.com/office/drawing/2014/main" id="{220AD22B-DD4F-FC0E-C5B0-9E0F1203A4F5}"/>
              </a:ext>
            </a:extLst>
          </p:cNvPr>
          <p:cNvSpPr/>
          <p:nvPr/>
        </p:nvSpPr>
        <p:spPr>
          <a:xfrm>
            <a:off x="932688" y="221284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a:extLst>
              <a:ext uri="{FF2B5EF4-FFF2-40B4-BE49-F238E27FC236}">
                <a16:creationId xmlns:a16="http://schemas.microsoft.com/office/drawing/2014/main" id="{7AFDC9C8-775D-0F22-ABA4-CCBDF6B3661A}"/>
              </a:ext>
            </a:extLst>
          </p:cNvPr>
          <p:cNvSpPr/>
          <p:nvPr/>
        </p:nvSpPr>
        <p:spPr>
          <a:xfrm>
            <a:off x="1508760" y="1956816"/>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Multi-line editing inside a cell</a:t>
            </a:r>
            <a:endParaRPr lang="en-US" sz="1650" dirty="0"/>
          </a:p>
        </p:txBody>
      </p:sp>
      <p:sp>
        <p:nvSpPr>
          <p:cNvPr id="8" name="Text 6">
            <a:extLst>
              <a:ext uri="{FF2B5EF4-FFF2-40B4-BE49-F238E27FC236}">
                <a16:creationId xmlns:a16="http://schemas.microsoft.com/office/drawing/2014/main" id="{BDA44DD8-E1EF-D31A-AA22-4A190A05C57B}"/>
              </a:ext>
            </a:extLst>
          </p:cNvPr>
          <p:cNvSpPr/>
          <p:nvPr/>
        </p:nvSpPr>
        <p:spPr>
          <a:xfrm>
            <a:off x="1508760" y="2313432"/>
            <a:ext cx="9966960" cy="640080"/>
          </a:xfrm>
          <a:prstGeom prst="rect">
            <a:avLst/>
          </a:prstGeom>
          <a:noFill/>
          <a:ln/>
        </p:spPr>
        <p:txBody>
          <a:bodyPr wrap="square" lIns="0" tIns="0" rIns="0" bIns="0" rtlCol="0" anchor="ctr"/>
          <a:lstStyle/>
          <a:p>
            <a:pPr marL="0" indent="0">
              <a:lnSpc>
                <a:spcPts val="1700"/>
              </a:lnSpc>
              <a:buNone/>
            </a:pPr>
            <a:r>
              <a:rPr lang="en-US" sz="1300" dirty="0">
                <a:solidFill>
                  <a:srgbClr val="4A5260"/>
                </a:solidFill>
                <a:latin typeface="Calibri" pitchFamily="34" charset="0"/>
                <a:ea typeface="Calibri" pitchFamily="34" charset="-122"/>
                <a:cs typeface="Calibri" pitchFamily="34" charset="-120"/>
              </a:rPr>
              <a:t>A DataGrid commits the row when you press Enter. A spec needs Enter to mean a new line. A key guard intercepts it inside the Specification cell, so the text box behaves the way a designer expects and clicking away is what saves.</a:t>
            </a:r>
            <a:endParaRPr lang="en-US" sz="1300" dirty="0"/>
          </a:p>
        </p:txBody>
      </p:sp>
      <p:pic>
        <p:nvPicPr>
          <p:cNvPr id="20" name="Picture 19">
            <a:extLst>
              <a:ext uri="{FF2B5EF4-FFF2-40B4-BE49-F238E27FC236}">
                <a16:creationId xmlns:a16="http://schemas.microsoft.com/office/drawing/2014/main" id="{A6CA8DBF-30EA-0FEB-9AFB-D6FFC4AFDD15}"/>
              </a:ext>
            </a:extLst>
          </p:cNvPr>
          <p:cNvPicPr>
            <a:picLocks noChangeAspect="1"/>
          </p:cNvPicPr>
          <p:nvPr/>
        </p:nvPicPr>
        <p:blipFill>
          <a:blip r:embed="rId3"/>
          <a:stretch>
            <a:fillRect/>
          </a:stretch>
        </p:blipFill>
        <p:spPr>
          <a:xfrm>
            <a:off x="647228" y="3374136"/>
            <a:ext cx="5448772" cy="2941575"/>
          </a:xfrm>
          <a:prstGeom prst="rect">
            <a:avLst/>
          </a:prstGeom>
        </p:spPr>
      </p:pic>
      <p:pic>
        <p:nvPicPr>
          <p:cNvPr id="22" name="Picture 21">
            <a:extLst>
              <a:ext uri="{FF2B5EF4-FFF2-40B4-BE49-F238E27FC236}">
                <a16:creationId xmlns:a16="http://schemas.microsoft.com/office/drawing/2014/main" id="{637F3BAE-1ACF-D912-D5A2-B36EC94C7CA3}"/>
              </a:ext>
            </a:extLst>
          </p:cNvPr>
          <p:cNvPicPr>
            <a:picLocks noChangeAspect="1"/>
          </p:cNvPicPr>
          <p:nvPr/>
        </p:nvPicPr>
        <p:blipFill>
          <a:blip r:embed="rId4"/>
          <a:stretch>
            <a:fillRect/>
          </a:stretch>
        </p:blipFill>
        <p:spPr>
          <a:xfrm>
            <a:off x="6614205" y="3429000"/>
            <a:ext cx="4930567" cy="1005927"/>
          </a:xfrm>
          <a:prstGeom prst="rect">
            <a:avLst/>
          </a:prstGeom>
        </p:spPr>
      </p:pic>
    </p:spTree>
    <p:extLst>
      <p:ext uri="{BB962C8B-B14F-4D97-AF65-F5344CB8AC3E}">
        <p14:creationId xmlns:p14="http://schemas.microsoft.com/office/powerpoint/2010/main" val="30951988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865E856-1EF2-1F84-A039-95DDABD8934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865DCC8-1413-D463-DFA7-9E9F6E6B6AC0}"/>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FRONTEND</a:t>
            </a:r>
            <a:endParaRPr lang="en-US" sz="1100" dirty="0"/>
          </a:p>
        </p:txBody>
      </p:sp>
      <p:sp>
        <p:nvSpPr>
          <p:cNvPr id="3" name="Text 1">
            <a:extLst>
              <a:ext uri="{FF2B5EF4-FFF2-40B4-BE49-F238E27FC236}">
                <a16:creationId xmlns:a16="http://schemas.microsoft.com/office/drawing/2014/main" id="{99499F25-0393-3AAF-C0A1-2BFFB1336479}"/>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Making a web grid behave like a spreadsheet</a:t>
            </a:r>
            <a:endParaRPr lang="en-US" sz="3400" dirty="0"/>
          </a:p>
        </p:txBody>
      </p:sp>
      <p:sp>
        <p:nvSpPr>
          <p:cNvPr id="4" name="Shape 2">
            <a:extLst>
              <a:ext uri="{FF2B5EF4-FFF2-40B4-BE49-F238E27FC236}">
                <a16:creationId xmlns:a16="http://schemas.microsoft.com/office/drawing/2014/main" id="{FBEF7BE6-D7A9-3FD3-8191-F342B85EDB23}"/>
              </a:ext>
            </a:extLst>
          </p:cNvPr>
          <p:cNvSpPr/>
          <p:nvPr/>
        </p:nvSpPr>
        <p:spPr>
          <a:xfrm>
            <a:off x="640080" y="1737360"/>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6" name="Text 4">
            <a:extLst>
              <a:ext uri="{FF2B5EF4-FFF2-40B4-BE49-F238E27FC236}">
                <a16:creationId xmlns:a16="http://schemas.microsoft.com/office/drawing/2014/main" id="{4B9D34A0-EDAD-54C0-C2A8-A0D59C9ED836}"/>
              </a:ext>
            </a:extLst>
          </p:cNvPr>
          <p:cNvSpPr/>
          <p:nvPr/>
        </p:nvSpPr>
        <p:spPr>
          <a:xfrm>
            <a:off x="932688" y="221284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Shape 8">
            <a:extLst>
              <a:ext uri="{FF2B5EF4-FFF2-40B4-BE49-F238E27FC236}">
                <a16:creationId xmlns:a16="http://schemas.microsoft.com/office/drawing/2014/main" id="{485970FF-0A9E-D59C-F040-6489FDFBDFDB}"/>
              </a:ext>
            </a:extLst>
          </p:cNvPr>
          <p:cNvSpPr/>
          <p:nvPr/>
        </p:nvSpPr>
        <p:spPr>
          <a:xfrm>
            <a:off x="932840" y="2212848"/>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1" name="Text 9">
            <a:extLst>
              <a:ext uri="{FF2B5EF4-FFF2-40B4-BE49-F238E27FC236}">
                <a16:creationId xmlns:a16="http://schemas.microsoft.com/office/drawing/2014/main" id="{2A4433D7-C8B0-6E09-2D51-79EB9A9F7B3A}"/>
              </a:ext>
            </a:extLst>
          </p:cNvPr>
          <p:cNvSpPr/>
          <p:nvPr/>
        </p:nvSpPr>
        <p:spPr>
          <a:xfrm>
            <a:off x="932840" y="2212848"/>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a:extLst>
              <a:ext uri="{FF2B5EF4-FFF2-40B4-BE49-F238E27FC236}">
                <a16:creationId xmlns:a16="http://schemas.microsoft.com/office/drawing/2014/main" id="{EC2894F0-01BB-FF37-4EFF-C431245CB7FA}"/>
              </a:ext>
            </a:extLst>
          </p:cNvPr>
          <p:cNvSpPr/>
          <p:nvPr/>
        </p:nvSpPr>
        <p:spPr>
          <a:xfrm>
            <a:off x="1508912" y="1956816"/>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Images rendered in the row</a:t>
            </a:r>
            <a:endParaRPr lang="en-US" sz="1650" dirty="0"/>
          </a:p>
        </p:txBody>
      </p:sp>
      <p:sp>
        <p:nvSpPr>
          <p:cNvPr id="13" name="Text 11">
            <a:extLst>
              <a:ext uri="{FF2B5EF4-FFF2-40B4-BE49-F238E27FC236}">
                <a16:creationId xmlns:a16="http://schemas.microsoft.com/office/drawing/2014/main" id="{F5226B97-1E09-C34A-05DA-11FF0BBDCFBD}"/>
              </a:ext>
            </a:extLst>
          </p:cNvPr>
          <p:cNvSpPr/>
          <p:nvPr/>
        </p:nvSpPr>
        <p:spPr>
          <a:xfrm>
            <a:off x="1508912" y="2313432"/>
            <a:ext cx="9966960" cy="640080"/>
          </a:xfrm>
          <a:prstGeom prst="rect">
            <a:avLst/>
          </a:prstGeom>
          <a:noFill/>
          <a:ln/>
        </p:spPr>
        <p:txBody>
          <a:bodyPr wrap="square" lIns="0" tIns="0" rIns="0" bIns="0" rtlCol="0" anchor="ctr"/>
          <a:lstStyle/>
          <a:p>
            <a:pPr marL="0" indent="0">
              <a:lnSpc>
                <a:spcPts val="1700"/>
              </a:lnSpc>
              <a:buNone/>
            </a:pPr>
            <a:r>
              <a:rPr lang="en-US" sz="1300" dirty="0">
                <a:solidFill>
                  <a:srgbClr val="4A5260"/>
                </a:solidFill>
                <a:latin typeface="Calibri" pitchFamily="34" charset="0"/>
                <a:ea typeface="Calibri" pitchFamily="34" charset="-122"/>
                <a:cs typeface="Calibri" pitchFamily="34" charset="-120"/>
              </a:rPr>
              <a:t>Paste an image URL and it previews live in the edit cell, then renders full-width in the grid — so a finishes schedule can be read visually, the way a sample board is.</a:t>
            </a:r>
            <a:endParaRPr lang="en-US" sz="1300" dirty="0"/>
          </a:p>
        </p:txBody>
      </p:sp>
      <p:pic>
        <p:nvPicPr>
          <p:cNvPr id="22" name="Picture 21">
            <a:extLst>
              <a:ext uri="{FF2B5EF4-FFF2-40B4-BE49-F238E27FC236}">
                <a16:creationId xmlns:a16="http://schemas.microsoft.com/office/drawing/2014/main" id="{AABC0B96-5A57-0DE4-5E58-0199474DBC61}"/>
              </a:ext>
            </a:extLst>
          </p:cNvPr>
          <p:cNvPicPr>
            <a:picLocks noChangeAspect="1"/>
          </p:cNvPicPr>
          <p:nvPr/>
        </p:nvPicPr>
        <p:blipFill>
          <a:blip r:embed="rId3"/>
          <a:stretch>
            <a:fillRect/>
          </a:stretch>
        </p:blipFill>
        <p:spPr>
          <a:xfrm>
            <a:off x="640080" y="3374136"/>
            <a:ext cx="4915326" cy="2149026"/>
          </a:xfrm>
          <a:prstGeom prst="rect">
            <a:avLst/>
          </a:prstGeom>
        </p:spPr>
      </p:pic>
      <p:pic>
        <p:nvPicPr>
          <p:cNvPr id="24" name="Picture 23">
            <a:extLst>
              <a:ext uri="{FF2B5EF4-FFF2-40B4-BE49-F238E27FC236}">
                <a16:creationId xmlns:a16="http://schemas.microsoft.com/office/drawing/2014/main" id="{A4CC568E-31D3-789C-54DB-0E8C03D7C439}"/>
              </a:ext>
            </a:extLst>
          </p:cNvPr>
          <p:cNvPicPr>
            <a:picLocks noChangeAspect="1"/>
          </p:cNvPicPr>
          <p:nvPr/>
        </p:nvPicPr>
        <p:blipFill>
          <a:blip r:embed="rId4"/>
          <a:stretch>
            <a:fillRect/>
          </a:stretch>
        </p:blipFill>
        <p:spPr>
          <a:xfrm>
            <a:off x="6095999" y="3511308"/>
            <a:ext cx="5464013" cy="1874682"/>
          </a:xfrm>
          <a:prstGeom prst="rect">
            <a:avLst/>
          </a:prstGeom>
        </p:spPr>
      </p:pic>
    </p:spTree>
    <p:extLst>
      <p:ext uri="{BB962C8B-B14F-4D97-AF65-F5344CB8AC3E}">
        <p14:creationId xmlns:p14="http://schemas.microsoft.com/office/powerpoint/2010/main" val="24238262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A1757BF-4F5F-602A-43D9-A5B1C062C41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11E53A-FE6E-40C9-C1BA-6BE772C9B8C5}"/>
              </a:ext>
            </a:extLst>
          </p:cNvPr>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FRONTEND</a:t>
            </a:r>
            <a:endParaRPr lang="en-US" sz="1100" dirty="0"/>
          </a:p>
        </p:txBody>
      </p:sp>
      <p:sp>
        <p:nvSpPr>
          <p:cNvPr id="3" name="Text 1">
            <a:extLst>
              <a:ext uri="{FF2B5EF4-FFF2-40B4-BE49-F238E27FC236}">
                <a16:creationId xmlns:a16="http://schemas.microsoft.com/office/drawing/2014/main" id="{37503526-AA17-9AFD-23D8-19CEBE7166DB}"/>
              </a:ext>
            </a:extLst>
          </p:cNvPr>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Making a web grid behave like a spreadsheet</a:t>
            </a:r>
            <a:endParaRPr lang="en-US" sz="3400" dirty="0"/>
          </a:p>
        </p:txBody>
      </p:sp>
      <p:sp>
        <p:nvSpPr>
          <p:cNvPr id="4" name="Shape 2">
            <a:extLst>
              <a:ext uri="{FF2B5EF4-FFF2-40B4-BE49-F238E27FC236}">
                <a16:creationId xmlns:a16="http://schemas.microsoft.com/office/drawing/2014/main" id="{C34F5CE9-D5F8-7836-010A-12EBD7342D15}"/>
              </a:ext>
            </a:extLst>
          </p:cNvPr>
          <p:cNvSpPr/>
          <p:nvPr/>
        </p:nvSpPr>
        <p:spPr>
          <a:xfrm>
            <a:off x="640080" y="1737360"/>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14" name="Shape 12">
            <a:extLst>
              <a:ext uri="{FF2B5EF4-FFF2-40B4-BE49-F238E27FC236}">
                <a16:creationId xmlns:a16="http://schemas.microsoft.com/office/drawing/2014/main" id="{B954AB55-6D86-4AB5-A86C-C4ED192A63F1}"/>
              </a:ext>
            </a:extLst>
          </p:cNvPr>
          <p:cNvSpPr/>
          <p:nvPr/>
        </p:nvSpPr>
        <p:spPr>
          <a:xfrm>
            <a:off x="640080" y="1738376"/>
            <a:ext cx="10911535" cy="1417320"/>
          </a:xfrm>
          <a:prstGeom prst="roundRect">
            <a:avLst>
              <a:gd name="adj" fmla="val 3226"/>
            </a:avLst>
          </a:prstGeom>
          <a:solidFill>
            <a:srgbClr val="F2F1EE"/>
          </a:solidFill>
          <a:ln w="12700">
            <a:solidFill>
              <a:srgbClr val="D8D6D1"/>
            </a:solidFill>
            <a:prstDash val="solid"/>
          </a:ln>
        </p:spPr>
        <p:txBody>
          <a:bodyPr/>
          <a:lstStyle/>
          <a:p>
            <a:endParaRPr lang="en-AU"/>
          </a:p>
        </p:txBody>
      </p:sp>
      <p:sp>
        <p:nvSpPr>
          <p:cNvPr id="15" name="Shape 13">
            <a:extLst>
              <a:ext uri="{FF2B5EF4-FFF2-40B4-BE49-F238E27FC236}">
                <a16:creationId xmlns:a16="http://schemas.microsoft.com/office/drawing/2014/main" id="{B5101217-8D2D-6D23-3C1C-C13B767540E1}"/>
              </a:ext>
            </a:extLst>
          </p:cNvPr>
          <p:cNvSpPr/>
          <p:nvPr/>
        </p:nvSpPr>
        <p:spPr>
          <a:xfrm>
            <a:off x="932688" y="2213864"/>
            <a:ext cx="310896" cy="310896"/>
          </a:xfrm>
          <a:prstGeom prst="roundRect">
            <a:avLst>
              <a:gd name="adj" fmla="val 17647"/>
            </a:avLst>
          </a:prstGeom>
          <a:solidFill>
            <a:srgbClr val="B85042"/>
          </a:solidFill>
          <a:ln w="12700">
            <a:solidFill>
              <a:srgbClr val="B85042"/>
            </a:solidFill>
            <a:prstDash val="solid"/>
          </a:ln>
        </p:spPr>
        <p:txBody>
          <a:bodyPr/>
          <a:lstStyle/>
          <a:p>
            <a:endParaRPr lang="en-AU"/>
          </a:p>
        </p:txBody>
      </p:sp>
      <p:sp>
        <p:nvSpPr>
          <p:cNvPr id="16" name="Text 14">
            <a:extLst>
              <a:ext uri="{FF2B5EF4-FFF2-40B4-BE49-F238E27FC236}">
                <a16:creationId xmlns:a16="http://schemas.microsoft.com/office/drawing/2014/main" id="{DB7EC5EB-5EE3-84A4-AA8D-97E79409DA8A}"/>
              </a:ext>
            </a:extLst>
          </p:cNvPr>
          <p:cNvSpPr/>
          <p:nvPr/>
        </p:nvSpPr>
        <p:spPr>
          <a:xfrm>
            <a:off x="932688" y="2213864"/>
            <a:ext cx="310896" cy="31089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a:extLst>
              <a:ext uri="{FF2B5EF4-FFF2-40B4-BE49-F238E27FC236}">
                <a16:creationId xmlns:a16="http://schemas.microsoft.com/office/drawing/2014/main" id="{3C6707A1-36BC-44A9-0491-09A4EFB00DF5}"/>
              </a:ext>
            </a:extLst>
          </p:cNvPr>
          <p:cNvSpPr/>
          <p:nvPr/>
        </p:nvSpPr>
        <p:spPr>
          <a:xfrm>
            <a:off x="1508760" y="1957832"/>
            <a:ext cx="9966960" cy="310896"/>
          </a:xfrm>
          <a:prstGeom prst="rect">
            <a:avLst/>
          </a:prstGeom>
          <a:noFill/>
          <a:ln/>
        </p:spPr>
        <p:txBody>
          <a:bodyPr wrap="square" lIns="0" tIns="0" rIns="0" bIns="0" rtlCol="0" anchor="ctr"/>
          <a:lstStyle/>
          <a:p>
            <a:pPr marL="0" indent="0">
              <a:buNone/>
            </a:pPr>
            <a:r>
              <a:rPr lang="en-US" sz="1650" b="1" dirty="0">
                <a:solidFill>
                  <a:srgbClr val="2B3440"/>
                </a:solidFill>
                <a:latin typeface="Calibri" pitchFamily="34" charset="0"/>
                <a:ea typeface="Calibri" pitchFamily="34" charset="-122"/>
                <a:cs typeface="Calibri" pitchFamily="34" charset="-120"/>
              </a:rPr>
              <a:t>Filtering without the round trip</a:t>
            </a:r>
            <a:endParaRPr lang="en-US" sz="1650" dirty="0"/>
          </a:p>
        </p:txBody>
      </p:sp>
      <p:sp>
        <p:nvSpPr>
          <p:cNvPr id="18" name="Text 16">
            <a:extLst>
              <a:ext uri="{FF2B5EF4-FFF2-40B4-BE49-F238E27FC236}">
                <a16:creationId xmlns:a16="http://schemas.microsoft.com/office/drawing/2014/main" id="{351A1EE6-4171-3B07-0F5B-0000E58ED4A6}"/>
              </a:ext>
            </a:extLst>
          </p:cNvPr>
          <p:cNvSpPr/>
          <p:nvPr/>
        </p:nvSpPr>
        <p:spPr>
          <a:xfrm>
            <a:off x="1508760" y="2314448"/>
            <a:ext cx="9966960" cy="640080"/>
          </a:xfrm>
          <a:prstGeom prst="rect">
            <a:avLst/>
          </a:prstGeom>
          <a:noFill/>
          <a:ln/>
        </p:spPr>
        <p:txBody>
          <a:bodyPr wrap="square" lIns="0" tIns="0" rIns="0" bIns="0" rtlCol="0" anchor="ctr"/>
          <a:lstStyle/>
          <a:p>
            <a:pPr marL="0" indent="0">
              <a:lnSpc>
                <a:spcPts val="1700"/>
              </a:lnSpc>
              <a:buNone/>
            </a:pPr>
            <a:r>
              <a:rPr lang="en-US" sz="1300" dirty="0">
                <a:solidFill>
                  <a:srgbClr val="4A5260"/>
                </a:solidFill>
                <a:latin typeface="Calibri" pitchFamily="34" charset="0"/>
                <a:ea typeface="Calibri" pitchFamily="34" charset="-122"/>
                <a:cs typeface="Calibri" pitchFamily="34" charset="-120"/>
              </a:rPr>
              <a:t>The product text lives on the version, not the spec, so the server cannot filter on it. Each library page loads its category once and filters in memory, which makes searching and sorting instant.</a:t>
            </a:r>
            <a:endParaRPr lang="en-US" sz="1300" dirty="0"/>
          </a:p>
        </p:txBody>
      </p:sp>
      <p:pic>
        <p:nvPicPr>
          <p:cNvPr id="20" name="Picture 19">
            <a:extLst>
              <a:ext uri="{FF2B5EF4-FFF2-40B4-BE49-F238E27FC236}">
                <a16:creationId xmlns:a16="http://schemas.microsoft.com/office/drawing/2014/main" id="{C150C0AB-E4F2-A0A3-48DA-1E780A37A092}"/>
              </a:ext>
            </a:extLst>
          </p:cNvPr>
          <p:cNvPicPr>
            <a:picLocks noChangeAspect="1"/>
          </p:cNvPicPr>
          <p:nvPr/>
        </p:nvPicPr>
        <p:blipFill>
          <a:blip r:embed="rId3"/>
          <a:stretch>
            <a:fillRect/>
          </a:stretch>
        </p:blipFill>
        <p:spPr>
          <a:xfrm>
            <a:off x="640080" y="3334240"/>
            <a:ext cx="5372566" cy="3139712"/>
          </a:xfrm>
          <a:prstGeom prst="rect">
            <a:avLst/>
          </a:prstGeom>
        </p:spPr>
      </p:pic>
      <p:pic>
        <p:nvPicPr>
          <p:cNvPr id="22" name="Picture 21">
            <a:extLst>
              <a:ext uri="{FF2B5EF4-FFF2-40B4-BE49-F238E27FC236}">
                <a16:creationId xmlns:a16="http://schemas.microsoft.com/office/drawing/2014/main" id="{184C920F-C3F3-3481-D2E7-5A1ABD172228}"/>
              </a:ext>
            </a:extLst>
          </p:cNvPr>
          <p:cNvPicPr>
            <a:picLocks noChangeAspect="1"/>
          </p:cNvPicPr>
          <p:nvPr/>
        </p:nvPicPr>
        <p:blipFill>
          <a:blip r:embed="rId4"/>
          <a:stretch>
            <a:fillRect/>
          </a:stretch>
        </p:blipFill>
        <p:spPr>
          <a:xfrm>
            <a:off x="6468635" y="3374136"/>
            <a:ext cx="4278387" cy="3271331"/>
          </a:xfrm>
          <a:prstGeom prst="rect">
            <a:avLst/>
          </a:prstGeom>
        </p:spPr>
      </p:pic>
    </p:spTree>
    <p:extLst>
      <p:ext uri="{BB962C8B-B14F-4D97-AF65-F5344CB8AC3E}">
        <p14:creationId xmlns:p14="http://schemas.microsoft.com/office/powerpoint/2010/main" val="1548138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256032"/>
          </a:xfrm>
          <a:prstGeom prst="rect">
            <a:avLst/>
          </a:prstGeom>
          <a:noFill/>
          <a:ln/>
        </p:spPr>
        <p:txBody>
          <a:bodyPr wrap="square" lIns="0" tIns="0" rIns="0" bIns="0" rtlCol="0" anchor="ctr"/>
          <a:lstStyle/>
          <a:p>
            <a:pPr marL="0" indent="0">
              <a:buNone/>
            </a:pPr>
            <a:r>
              <a:rPr lang="en-US" sz="1100" b="1" kern="0" spc="200" dirty="0">
                <a:solidFill>
                  <a:srgbClr val="B85042"/>
                </a:solidFill>
                <a:latin typeface="Calibri" pitchFamily="34" charset="0"/>
                <a:ea typeface="Calibri" pitchFamily="34" charset="-122"/>
                <a:cs typeface="Calibri" pitchFamily="34" charset="-120"/>
              </a:rPr>
              <a:t>THE TEXT PARSER</a:t>
            </a:r>
            <a:endParaRPr lang="en-US" sz="1100" dirty="0"/>
          </a:p>
        </p:txBody>
      </p:sp>
      <p:sp>
        <p:nvSpPr>
          <p:cNvPr id="3" name="Text 1"/>
          <p:cNvSpPr/>
          <p:nvPr/>
        </p:nvSpPr>
        <p:spPr>
          <a:xfrm>
            <a:off x="640080" y="658368"/>
            <a:ext cx="10911535" cy="640080"/>
          </a:xfrm>
          <a:prstGeom prst="rect">
            <a:avLst/>
          </a:prstGeom>
          <a:noFill/>
          <a:ln/>
        </p:spPr>
        <p:txBody>
          <a:bodyPr wrap="square" lIns="0" tIns="0" rIns="0" bIns="0" rtlCol="0" anchor="ctr"/>
          <a:lstStyle/>
          <a:p>
            <a:pPr marL="0" indent="0">
              <a:buNone/>
            </a:pPr>
            <a:r>
              <a:rPr lang="en-US" sz="3400" b="1" dirty="0">
                <a:solidFill>
                  <a:srgbClr val="2B3440"/>
                </a:solidFill>
                <a:latin typeface="Cambria" pitchFamily="34" charset="0"/>
                <a:ea typeface="Cambria" pitchFamily="34" charset="-122"/>
                <a:cs typeface="Cambria" pitchFamily="34" charset="-120"/>
              </a:rPr>
              <a:t>One text box in, structured data out</a:t>
            </a:r>
            <a:endParaRPr lang="en-US" sz="3400" dirty="0"/>
          </a:p>
        </p:txBody>
      </p:sp>
      <p:sp>
        <p:nvSpPr>
          <p:cNvPr id="4" name="Text 2"/>
          <p:cNvSpPr/>
          <p:nvPr/>
        </p:nvSpPr>
        <p:spPr>
          <a:xfrm>
            <a:off x="640080" y="1664208"/>
            <a:ext cx="5029200" cy="274320"/>
          </a:xfrm>
          <a:prstGeom prst="rect">
            <a:avLst/>
          </a:prstGeom>
          <a:noFill/>
          <a:ln/>
        </p:spPr>
        <p:txBody>
          <a:bodyPr wrap="square" lIns="0" tIns="0" rIns="0" bIns="0" rtlCol="0" anchor="ctr"/>
          <a:lstStyle/>
          <a:p>
            <a:pPr marL="0" indent="0">
              <a:buNone/>
            </a:pPr>
            <a:r>
              <a:rPr lang="en-US" sz="1200" b="1" kern="0" spc="120" dirty="0">
                <a:solidFill>
                  <a:srgbClr val="B85042"/>
                </a:solidFill>
                <a:latin typeface="Calibri" pitchFamily="34" charset="0"/>
                <a:ea typeface="Calibri" pitchFamily="34" charset="-122"/>
                <a:cs typeface="Calibri" pitchFamily="34" charset="-120"/>
              </a:rPr>
              <a:t>What the designer types</a:t>
            </a:r>
            <a:endParaRPr lang="en-US" sz="1200" dirty="0"/>
          </a:p>
        </p:txBody>
      </p:sp>
      <p:sp>
        <p:nvSpPr>
          <p:cNvPr id="5" name="Shape 3"/>
          <p:cNvSpPr/>
          <p:nvPr/>
        </p:nvSpPr>
        <p:spPr>
          <a:xfrm>
            <a:off x="640080" y="2011680"/>
            <a:ext cx="5120640" cy="1653140"/>
          </a:xfrm>
          <a:prstGeom prst="roundRect">
            <a:avLst>
              <a:gd name="adj" fmla="val 1961"/>
            </a:avLst>
          </a:prstGeom>
          <a:solidFill>
            <a:srgbClr val="FFFFFF"/>
          </a:solidFill>
          <a:ln w="12700">
            <a:solidFill>
              <a:srgbClr val="D8D6D1"/>
            </a:solidFill>
            <a:prstDash val="solid"/>
          </a:ln>
        </p:spPr>
        <p:txBody>
          <a:bodyPr/>
          <a:lstStyle/>
          <a:p>
            <a:endParaRPr lang="en-AU"/>
          </a:p>
        </p:txBody>
      </p:sp>
      <p:sp>
        <p:nvSpPr>
          <p:cNvPr id="6" name="Text 4"/>
          <p:cNvSpPr/>
          <p:nvPr/>
        </p:nvSpPr>
        <p:spPr>
          <a:xfrm>
            <a:off x="914400" y="2240280"/>
            <a:ext cx="4572000" cy="1188720"/>
          </a:xfrm>
          <a:prstGeom prst="rect">
            <a:avLst/>
          </a:prstGeom>
          <a:noFill/>
          <a:ln/>
        </p:spPr>
        <p:txBody>
          <a:bodyPr wrap="square" lIns="0" tIns="0" rIns="0" bIns="0" rtlCol="0" anchor="ctr"/>
          <a:lstStyle/>
          <a:p>
            <a:pPr marL="0" indent="0">
              <a:lnSpc>
                <a:spcPts val="2100"/>
              </a:lnSpc>
              <a:buNone/>
            </a:pPr>
            <a:r>
              <a:rPr lang="en-US" sz="1250" dirty="0">
                <a:solidFill>
                  <a:srgbClr val="2B3440"/>
                </a:solidFill>
                <a:latin typeface="Courier New" pitchFamily="34" charset="0"/>
                <a:ea typeface="Courier New" pitchFamily="34" charset="-122"/>
                <a:cs typeface="Courier New" pitchFamily="34" charset="-120"/>
              </a:rPr>
              <a:t>Product: Echopanel 24mm</a:t>
            </a:r>
            <a:endParaRPr lang="en-US" sz="1250" dirty="0"/>
          </a:p>
          <a:p>
            <a:pPr marL="0" indent="0">
              <a:lnSpc>
                <a:spcPts val="2100"/>
              </a:lnSpc>
              <a:buNone/>
            </a:pPr>
            <a:r>
              <a:rPr lang="en-US" sz="1250" dirty="0">
                <a:solidFill>
                  <a:srgbClr val="2B3440"/>
                </a:solidFill>
                <a:latin typeface="Courier New" pitchFamily="34" charset="0"/>
                <a:ea typeface="Courier New" pitchFamily="34" charset="-122"/>
                <a:cs typeface="Courier New" pitchFamily="34" charset="-120"/>
              </a:rPr>
              <a:t>Colour: Onyx 550</a:t>
            </a:r>
            <a:endParaRPr lang="en-US" sz="1250" dirty="0"/>
          </a:p>
          <a:p>
            <a:pPr marL="0" indent="0">
              <a:lnSpc>
                <a:spcPts val="2100"/>
              </a:lnSpc>
              <a:buNone/>
            </a:pPr>
            <a:r>
              <a:rPr lang="en-US" sz="1250" dirty="0">
                <a:solidFill>
                  <a:srgbClr val="2B3440"/>
                </a:solidFill>
                <a:latin typeface="Courier New" pitchFamily="34" charset="0"/>
                <a:ea typeface="Courier New" pitchFamily="34" charset="-122"/>
                <a:cs typeface="Courier New" pitchFamily="34" charset="-120"/>
              </a:rPr>
              <a:t>Size: W1200 x L2800</a:t>
            </a:r>
            <a:endParaRPr lang="en-US" sz="1250" dirty="0"/>
          </a:p>
          <a:p>
            <a:pPr marL="0" indent="0">
              <a:lnSpc>
                <a:spcPts val="2100"/>
              </a:lnSpc>
              <a:buNone/>
            </a:pPr>
            <a:r>
              <a:rPr lang="en-US" sz="1250" dirty="0">
                <a:solidFill>
                  <a:srgbClr val="2B3440"/>
                </a:solidFill>
                <a:latin typeface="Courier New" pitchFamily="34" charset="0"/>
                <a:ea typeface="Courier New" pitchFamily="34" charset="-122"/>
                <a:cs typeface="Courier New" pitchFamily="34" charset="-120"/>
              </a:rPr>
              <a:t>NRC: Direct fix 0.65</a:t>
            </a:r>
            <a:endParaRPr lang="en-US" sz="1250" dirty="0"/>
          </a:p>
          <a:p>
            <a:pPr marL="0" indent="0">
              <a:lnSpc>
                <a:spcPts val="2100"/>
              </a:lnSpc>
              <a:buNone/>
            </a:pPr>
            <a:r>
              <a:rPr lang="en-US" sz="1250" dirty="0">
                <a:solidFill>
                  <a:srgbClr val="2B3440"/>
                </a:solidFill>
                <a:latin typeface="Courier New" pitchFamily="34" charset="0"/>
                <a:ea typeface="Courier New" pitchFamily="34" charset="-122"/>
                <a:cs typeface="Courier New" pitchFamily="34" charset="-120"/>
              </a:rPr>
              <a:t>Supplier: Woven Image</a:t>
            </a:r>
            <a:endParaRPr lang="en-US" sz="1250" dirty="0"/>
          </a:p>
        </p:txBody>
      </p:sp>
      <p:sp>
        <p:nvSpPr>
          <p:cNvPr id="7" name="Shape 5"/>
          <p:cNvSpPr/>
          <p:nvPr/>
        </p:nvSpPr>
        <p:spPr>
          <a:xfrm>
            <a:off x="6016752" y="3154680"/>
            <a:ext cx="365760" cy="0"/>
          </a:xfrm>
          <a:prstGeom prst="line">
            <a:avLst/>
          </a:prstGeom>
          <a:noFill/>
          <a:ln w="19050">
            <a:solidFill>
              <a:srgbClr val="6E7681"/>
            </a:solidFill>
            <a:prstDash val="solid"/>
            <a:tailEnd type="triangle"/>
          </a:ln>
        </p:spPr>
        <p:txBody>
          <a:bodyPr/>
          <a:lstStyle/>
          <a:p>
            <a:endParaRPr lang="en-AU"/>
          </a:p>
        </p:txBody>
      </p:sp>
      <p:sp>
        <p:nvSpPr>
          <p:cNvPr id="8" name="Text 6"/>
          <p:cNvSpPr/>
          <p:nvPr/>
        </p:nvSpPr>
        <p:spPr>
          <a:xfrm>
            <a:off x="5925312" y="2816352"/>
            <a:ext cx="548640" cy="256032"/>
          </a:xfrm>
          <a:prstGeom prst="rect">
            <a:avLst/>
          </a:prstGeom>
          <a:noFill/>
          <a:ln/>
        </p:spPr>
        <p:txBody>
          <a:bodyPr wrap="square" lIns="0" tIns="0" rIns="0" bIns="0" rtlCol="0" anchor="ctr"/>
          <a:lstStyle/>
          <a:p>
            <a:pPr marL="0" indent="0" algn="ctr">
              <a:buNone/>
            </a:pPr>
            <a:r>
              <a:rPr lang="en-US" sz="900" dirty="0">
                <a:solidFill>
                  <a:srgbClr val="6E7681"/>
                </a:solidFill>
                <a:latin typeface="Calibri" pitchFamily="34" charset="0"/>
                <a:ea typeface="Calibri" pitchFamily="34" charset="-122"/>
                <a:cs typeface="Calibri" pitchFamily="34" charset="-120"/>
              </a:rPr>
              <a:t>parse</a:t>
            </a:r>
            <a:endParaRPr lang="en-US" sz="900" dirty="0"/>
          </a:p>
        </p:txBody>
      </p:sp>
      <p:sp>
        <p:nvSpPr>
          <p:cNvPr id="9" name="Text 7"/>
          <p:cNvSpPr/>
          <p:nvPr/>
        </p:nvSpPr>
        <p:spPr>
          <a:xfrm>
            <a:off x="6428232" y="1664208"/>
            <a:ext cx="5029200" cy="274320"/>
          </a:xfrm>
          <a:prstGeom prst="rect">
            <a:avLst/>
          </a:prstGeom>
          <a:noFill/>
          <a:ln/>
        </p:spPr>
        <p:txBody>
          <a:bodyPr wrap="square" lIns="0" tIns="0" rIns="0" bIns="0" rtlCol="0" anchor="ctr"/>
          <a:lstStyle/>
          <a:p>
            <a:pPr marL="0" indent="0">
              <a:buNone/>
            </a:pPr>
            <a:r>
              <a:rPr lang="en-US" sz="1200" b="1" kern="0" spc="120" dirty="0">
                <a:solidFill>
                  <a:srgbClr val="B85042"/>
                </a:solidFill>
                <a:latin typeface="Calibri" pitchFamily="34" charset="0"/>
                <a:ea typeface="Calibri" pitchFamily="34" charset="-122"/>
                <a:cs typeface="Calibri" pitchFamily="34" charset="-120"/>
              </a:rPr>
              <a:t>What the database stores</a:t>
            </a:r>
            <a:endParaRPr lang="en-US" sz="1200" dirty="0"/>
          </a:p>
        </p:txBody>
      </p:sp>
      <p:sp>
        <p:nvSpPr>
          <p:cNvPr id="10" name="Shape 8"/>
          <p:cNvSpPr/>
          <p:nvPr/>
        </p:nvSpPr>
        <p:spPr>
          <a:xfrm>
            <a:off x="6428232" y="2011680"/>
            <a:ext cx="5120640" cy="1653140"/>
          </a:xfrm>
          <a:prstGeom prst="roundRect">
            <a:avLst>
              <a:gd name="adj" fmla="val 1961"/>
            </a:avLst>
          </a:prstGeom>
          <a:solidFill>
            <a:srgbClr val="2B3440"/>
          </a:solidFill>
          <a:ln w="12700">
            <a:solidFill>
              <a:srgbClr val="2B3440"/>
            </a:solidFill>
            <a:prstDash val="solid"/>
          </a:ln>
        </p:spPr>
        <p:txBody>
          <a:bodyPr/>
          <a:lstStyle/>
          <a:p>
            <a:endParaRPr lang="en-AU"/>
          </a:p>
        </p:txBody>
      </p:sp>
      <p:sp>
        <p:nvSpPr>
          <p:cNvPr id="11" name="Text 9"/>
          <p:cNvSpPr/>
          <p:nvPr/>
        </p:nvSpPr>
        <p:spPr>
          <a:xfrm>
            <a:off x="6702552" y="2240280"/>
            <a:ext cx="4572000" cy="1335024"/>
          </a:xfrm>
          <a:prstGeom prst="rect">
            <a:avLst/>
          </a:prstGeom>
          <a:noFill/>
          <a:ln/>
        </p:spPr>
        <p:txBody>
          <a:bodyPr wrap="square" lIns="0" tIns="0" rIns="0" bIns="0" rtlCol="0" anchor="ctr"/>
          <a:lstStyle/>
          <a:p>
            <a:pPr marL="0" indent="0">
              <a:lnSpc>
                <a:spcPts val="1800"/>
              </a:lnSpc>
              <a:buNone/>
            </a:pPr>
            <a:r>
              <a:rPr lang="en-US" sz="1150" dirty="0">
                <a:solidFill>
                  <a:srgbClr val="D6DBE1"/>
                </a:solidFill>
                <a:latin typeface="Courier New" pitchFamily="34" charset="0"/>
                <a:ea typeface="Courier New" pitchFamily="34" charset="-122"/>
                <a:cs typeface="Courier New" pitchFamily="34" charset="-120"/>
              </a:rPr>
              <a:t>rawText   the text, kept verbatim</a:t>
            </a:r>
            <a:endParaRPr lang="en-US" sz="1150" dirty="0"/>
          </a:p>
          <a:p>
            <a:pPr marL="0" indent="0">
              <a:lnSpc>
                <a:spcPts val="1800"/>
              </a:lnSpc>
              <a:buNone/>
            </a:pPr>
            <a:endParaRPr lang="en-US" sz="1150" dirty="0"/>
          </a:p>
          <a:p>
            <a:pPr marL="0" indent="0">
              <a:lnSpc>
                <a:spcPts val="1800"/>
              </a:lnSpc>
              <a:buNone/>
            </a:pPr>
            <a:r>
              <a:rPr lang="en-US" sz="1150" dirty="0">
                <a:solidFill>
                  <a:srgbClr val="D6DBE1"/>
                </a:solidFill>
                <a:latin typeface="Courier New" pitchFamily="34" charset="0"/>
                <a:ea typeface="Courier New" pitchFamily="34" charset="-122"/>
                <a:cs typeface="Courier New" pitchFamily="34" charset="-120"/>
              </a:rPr>
              <a:t>attributes[]</a:t>
            </a:r>
            <a:endParaRPr lang="en-US" sz="1150" dirty="0"/>
          </a:p>
          <a:p>
            <a:pPr marL="0" indent="0">
              <a:lnSpc>
                <a:spcPts val="1800"/>
              </a:lnSpc>
              <a:buNone/>
            </a:pPr>
            <a:r>
              <a:rPr lang="en-US" sz="1150" dirty="0">
                <a:solidFill>
                  <a:srgbClr val="D6DBE1"/>
                </a:solidFill>
                <a:latin typeface="Courier New" pitchFamily="34" charset="0"/>
                <a:ea typeface="Courier New" pitchFamily="34" charset="-122"/>
                <a:cs typeface="Courier New" pitchFamily="34" charset="-120"/>
              </a:rPr>
              <a:t>   { key: "Colour", value: "Onyx 550" }</a:t>
            </a:r>
            <a:endParaRPr lang="en-US" sz="1150" dirty="0"/>
          </a:p>
          <a:p>
            <a:pPr marL="0" indent="0">
              <a:lnSpc>
                <a:spcPts val="1800"/>
              </a:lnSpc>
              <a:buNone/>
            </a:pPr>
            <a:r>
              <a:rPr lang="en-US" sz="1150" dirty="0">
                <a:solidFill>
                  <a:srgbClr val="D6DBE1"/>
                </a:solidFill>
                <a:latin typeface="Courier New" pitchFamily="34" charset="0"/>
                <a:ea typeface="Courier New" pitchFamily="34" charset="-122"/>
                <a:cs typeface="Courier New" pitchFamily="34" charset="-120"/>
              </a:rPr>
              <a:t>   { key: "Size",   value: "W1200 x L2800" }</a:t>
            </a:r>
            <a:endParaRPr lang="en-US" sz="1150" dirty="0"/>
          </a:p>
          <a:p>
            <a:pPr marL="0" indent="0">
              <a:lnSpc>
                <a:spcPts val="1800"/>
              </a:lnSpc>
              <a:buNone/>
            </a:pPr>
            <a:r>
              <a:rPr lang="en-US" sz="1150" dirty="0">
                <a:solidFill>
                  <a:srgbClr val="D6DBE1"/>
                </a:solidFill>
                <a:latin typeface="Courier New" pitchFamily="34" charset="0"/>
                <a:ea typeface="Courier New" pitchFamily="34" charset="-122"/>
                <a:cs typeface="Courier New" pitchFamily="34" charset="-120"/>
              </a:rPr>
              <a:t>   … sortOrder preserved</a:t>
            </a:r>
            <a:endParaRPr lang="en-US" sz="1150" dirty="0"/>
          </a:p>
        </p:txBody>
      </p:sp>
      <p:sp>
        <p:nvSpPr>
          <p:cNvPr id="12" name="Text 10"/>
          <p:cNvSpPr/>
          <p:nvPr/>
        </p:nvSpPr>
        <p:spPr>
          <a:xfrm>
            <a:off x="670255" y="3483864"/>
            <a:ext cx="10881360" cy="822960"/>
          </a:xfrm>
          <a:prstGeom prst="rect">
            <a:avLst/>
          </a:prstGeom>
          <a:noFill/>
          <a:ln/>
        </p:spPr>
        <p:txBody>
          <a:bodyPr wrap="square" lIns="0" tIns="0" rIns="0" bIns="0" rtlCol="0" anchor="ctr"/>
          <a:lstStyle/>
          <a:p>
            <a:pPr marL="0" indent="0">
              <a:lnSpc>
                <a:spcPts val="2100"/>
              </a:lnSpc>
              <a:buNone/>
            </a:pPr>
            <a:r>
              <a:rPr lang="en-US" sz="1500" dirty="0">
                <a:solidFill>
                  <a:srgbClr val="4A5260"/>
                </a:solidFill>
                <a:latin typeface="Calibri" pitchFamily="34" charset="0"/>
                <a:ea typeface="Calibri" pitchFamily="34" charset="-122"/>
                <a:cs typeface="Calibri" pitchFamily="34" charset="-120"/>
              </a:rPr>
              <a:t>Typing stays as fast as a spreadsheet cell, but the data comes out structured - ready for filtering, comparison and export later, no forms</a:t>
            </a:r>
            <a:endParaRPr lang="en-US" sz="1500" dirty="0"/>
          </a:p>
        </p:txBody>
      </p:sp>
      <p:pic>
        <p:nvPicPr>
          <p:cNvPr id="14" name="Picture 13">
            <a:extLst>
              <a:ext uri="{FF2B5EF4-FFF2-40B4-BE49-F238E27FC236}">
                <a16:creationId xmlns:a16="http://schemas.microsoft.com/office/drawing/2014/main" id="{B977D82A-2843-EA3F-7304-48CBF5791ED4}"/>
              </a:ext>
            </a:extLst>
          </p:cNvPr>
          <p:cNvPicPr>
            <a:picLocks noChangeAspect="1"/>
          </p:cNvPicPr>
          <p:nvPr/>
        </p:nvPicPr>
        <p:blipFill>
          <a:blip r:embed="rId3"/>
          <a:stretch>
            <a:fillRect/>
          </a:stretch>
        </p:blipFill>
        <p:spPr>
          <a:xfrm>
            <a:off x="680189" y="4197721"/>
            <a:ext cx="4174033" cy="2485256"/>
          </a:xfrm>
          <a:prstGeom prst="rect">
            <a:avLst/>
          </a:prstGeom>
        </p:spPr>
      </p:pic>
      <p:pic>
        <p:nvPicPr>
          <p:cNvPr id="16" name="Picture 15">
            <a:extLst>
              <a:ext uri="{FF2B5EF4-FFF2-40B4-BE49-F238E27FC236}">
                <a16:creationId xmlns:a16="http://schemas.microsoft.com/office/drawing/2014/main" id="{4DD0CB7C-7BFB-AE29-ECEE-86DA06824541}"/>
              </a:ext>
            </a:extLst>
          </p:cNvPr>
          <p:cNvPicPr>
            <a:picLocks noChangeAspect="1"/>
          </p:cNvPicPr>
          <p:nvPr/>
        </p:nvPicPr>
        <p:blipFill>
          <a:blip r:embed="rId4"/>
          <a:stretch>
            <a:fillRect/>
          </a:stretch>
        </p:blipFill>
        <p:spPr>
          <a:xfrm>
            <a:off x="5088378" y="4233672"/>
            <a:ext cx="5311600" cy="20347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2B3440"/>
        </a:solidFill>
        <a:effectLst/>
      </p:bgPr>
    </p:bg>
    <p:spTree>
      <p:nvGrpSpPr>
        <p:cNvPr id="1" name=""/>
        <p:cNvGrpSpPr/>
        <p:nvPr/>
      </p:nvGrpSpPr>
      <p:grpSpPr>
        <a:xfrm>
          <a:off x="0" y="0"/>
          <a:ext cx="0" cy="0"/>
          <a:chOff x="0" y="0"/>
          <a:chExt cx="0" cy="0"/>
        </a:xfrm>
      </p:grpSpPr>
      <p:sp>
        <p:nvSpPr>
          <p:cNvPr id="4" name="Text 2"/>
          <p:cNvSpPr/>
          <p:nvPr/>
        </p:nvSpPr>
        <p:spPr>
          <a:xfrm>
            <a:off x="2138325" y="2821450"/>
            <a:ext cx="7634326" cy="1737360"/>
          </a:xfrm>
          <a:prstGeom prst="rect">
            <a:avLst/>
          </a:prstGeom>
          <a:noFill/>
          <a:ln/>
        </p:spPr>
        <p:txBody>
          <a:bodyPr wrap="square" lIns="0" tIns="0" rIns="0" bIns="0" rtlCol="0" anchor="ctr"/>
          <a:lstStyle/>
          <a:p>
            <a:pPr marL="0" indent="0">
              <a:lnSpc>
                <a:spcPts val="5600"/>
              </a:lnSpc>
              <a:buNone/>
            </a:pPr>
            <a:r>
              <a:rPr lang="en-US" sz="2000" b="1" dirty="0">
                <a:solidFill>
                  <a:srgbClr val="FFFFFF"/>
                </a:solidFill>
                <a:latin typeface="Cambria" pitchFamily="34" charset="0"/>
                <a:ea typeface="Cambria" pitchFamily="34" charset="-122"/>
                <a:cs typeface="Cambria" pitchFamily="34" charset="-120"/>
              </a:rPr>
              <a:t>with</a:t>
            </a:r>
            <a:r>
              <a:rPr lang="en-US" sz="4600" b="1" dirty="0">
                <a:solidFill>
                  <a:srgbClr val="FFFFFF"/>
                </a:solidFill>
                <a:latin typeface="Cambria" pitchFamily="34" charset="0"/>
                <a:ea typeface="Cambria" pitchFamily="34" charset="-122"/>
                <a:cs typeface="Cambria" pitchFamily="34" charset="-120"/>
              </a:rPr>
              <a:t> Spreadsheet ease.</a:t>
            </a:r>
            <a:endParaRPr lang="en-US" sz="4600" dirty="0"/>
          </a:p>
          <a:p>
            <a:pPr marL="0" indent="0">
              <a:lnSpc>
                <a:spcPts val="5600"/>
              </a:lnSpc>
              <a:buNone/>
            </a:pPr>
            <a:r>
              <a:rPr lang="en-US" sz="4600" b="1" dirty="0">
                <a:solidFill>
                  <a:srgbClr val="FFFFFF"/>
                </a:solidFill>
                <a:latin typeface="Cambria" pitchFamily="34" charset="0"/>
                <a:ea typeface="Cambria" pitchFamily="34" charset="-122"/>
                <a:cs typeface="Cambria" pitchFamily="34" charset="-120"/>
              </a:rPr>
              <a:t>	</a:t>
            </a:r>
            <a:r>
              <a:rPr lang="en-US" sz="2000" b="1" dirty="0">
                <a:solidFill>
                  <a:srgbClr val="FFFFFF"/>
                </a:solidFill>
                <a:latin typeface="Cambria" pitchFamily="34" charset="0"/>
                <a:ea typeface="Cambria" pitchFamily="34" charset="-122"/>
                <a:cs typeface="Cambria" pitchFamily="34" charset="-120"/>
              </a:rPr>
              <a:t>but</a:t>
            </a:r>
            <a:r>
              <a:rPr lang="en-US" sz="4600" b="1" dirty="0">
                <a:solidFill>
                  <a:srgbClr val="FFFFFF"/>
                </a:solidFill>
                <a:latin typeface="Cambria" pitchFamily="34" charset="0"/>
                <a:ea typeface="Cambria" pitchFamily="34" charset="-122"/>
                <a:cs typeface="Cambria" pitchFamily="34" charset="-120"/>
              </a:rPr>
              <a:t> Nothing forgotten.</a:t>
            </a:r>
          </a:p>
          <a:p>
            <a:pPr marL="0" indent="0">
              <a:lnSpc>
                <a:spcPts val="5600"/>
              </a:lnSpc>
              <a:buNone/>
            </a:pPr>
            <a:r>
              <a:rPr lang="en-US" sz="4600" b="1" dirty="0">
                <a:solidFill>
                  <a:srgbClr val="FFFFFF"/>
                </a:solidFill>
                <a:latin typeface="Cambria" pitchFamily="34" charset="0"/>
                <a:ea typeface="Cambria" pitchFamily="34" charset="-122"/>
              </a:rPr>
              <a:t>		</a:t>
            </a:r>
            <a:r>
              <a:rPr lang="en-US" sz="2000" b="1" dirty="0">
                <a:solidFill>
                  <a:srgbClr val="FFFFFF"/>
                </a:solidFill>
                <a:latin typeface="Cambria" pitchFamily="34" charset="0"/>
                <a:ea typeface="Cambria" pitchFamily="34" charset="-122"/>
              </a:rPr>
              <a:t>and</a:t>
            </a:r>
            <a:r>
              <a:rPr lang="en-US" sz="4600" b="1" dirty="0">
                <a:solidFill>
                  <a:srgbClr val="FFFFFF"/>
                </a:solidFill>
                <a:latin typeface="Cambria" pitchFamily="34" charset="0"/>
                <a:ea typeface="Cambria" pitchFamily="34" charset="-122"/>
              </a:rPr>
              <a:t> Everything shared.</a:t>
            </a:r>
            <a:endParaRPr lang="en-US" sz="4600" dirty="0"/>
          </a:p>
        </p:txBody>
      </p:sp>
      <p:sp>
        <p:nvSpPr>
          <p:cNvPr id="5" name="Text 3"/>
          <p:cNvSpPr/>
          <p:nvPr/>
        </p:nvSpPr>
        <p:spPr>
          <a:xfrm>
            <a:off x="7372293" y="5162031"/>
            <a:ext cx="3865984" cy="543041"/>
          </a:xfrm>
          <a:prstGeom prst="rect">
            <a:avLst/>
          </a:prstGeom>
          <a:noFill/>
          <a:ln/>
        </p:spPr>
        <p:txBody>
          <a:bodyPr wrap="square" lIns="0" tIns="0" rIns="0" bIns="0" rtlCol="0" anchor="ctr"/>
          <a:lstStyle/>
          <a:p>
            <a:pPr marL="0" indent="0">
              <a:buNone/>
            </a:pPr>
            <a:r>
              <a:rPr lang="en-US" sz="1700" dirty="0">
                <a:solidFill>
                  <a:srgbClr val="AEB4BC"/>
                </a:solidFill>
                <a:latin typeface="Calibri" pitchFamily="34" charset="0"/>
                <a:ea typeface="Calibri" pitchFamily="34" charset="-122"/>
                <a:cs typeface="Calibri" pitchFamily="34" charset="-120"/>
              </a:rPr>
              <a:t>Thank you — happy to take questions.</a:t>
            </a:r>
            <a:endParaRPr lang="en-US" sz="1700" dirty="0"/>
          </a:p>
        </p:txBody>
      </p:sp>
      <p:sp>
        <p:nvSpPr>
          <p:cNvPr id="7" name="Text 2">
            <a:extLst>
              <a:ext uri="{FF2B5EF4-FFF2-40B4-BE49-F238E27FC236}">
                <a16:creationId xmlns:a16="http://schemas.microsoft.com/office/drawing/2014/main" id="{5E029BE6-3772-7776-4FA2-17CE643A9B02}"/>
              </a:ext>
            </a:extLst>
          </p:cNvPr>
          <p:cNvSpPr/>
          <p:nvPr/>
        </p:nvSpPr>
        <p:spPr>
          <a:xfrm>
            <a:off x="1742738" y="1338431"/>
            <a:ext cx="2640496" cy="1051560"/>
          </a:xfrm>
          <a:prstGeom prst="rect">
            <a:avLst/>
          </a:prstGeom>
          <a:noFill/>
          <a:ln/>
        </p:spPr>
        <p:txBody>
          <a:bodyPr wrap="square" lIns="0" tIns="0" rIns="0" bIns="0" rtlCol="0" anchor="ctr"/>
          <a:lstStyle/>
          <a:p>
            <a:pPr marL="0" indent="0">
              <a:buNone/>
            </a:pPr>
            <a:r>
              <a:rPr lang="en-US" sz="4600" b="1" dirty="0" err="1">
                <a:solidFill>
                  <a:srgbClr val="FFFFFF"/>
                </a:solidFill>
                <a:latin typeface="Cambria" pitchFamily="34" charset="0"/>
                <a:ea typeface="Cambria" pitchFamily="34" charset="-122"/>
                <a:cs typeface="Cambria" pitchFamily="34" charset="-120"/>
              </a:rPr>
              <a:t>Schedulr</a:t>
            </a:r>
            <a:r>
              <a:rPr lang="en-US" sz="4600" b="1" dirty="0">
                <a:solidFill>
                  <a:srgbClr val="FFFFFF"/>
                </a:solidFill>
                <a:latin typeface="Cambria" pitchFamily="34" charset="0"/>
                <a:ea typeface="Cambria" pitchFamily="34" charset="-122"/>
                <a:cs typeface="Cambria" pitchFamily="34" charset="-120"/>
              </a:rPr>
              <a:t>.</a:t>
            </a:r>
            <a:endParaRPr lang="en-US" sz="4600" dirty="0"/>
          </a:p>
        </p:txBody>
      </p:sp>
      <p:sp>
        <p:nvSpPr>
          <p:cNvPr id="9" name="Shape 0">
            <a:extLst>
              <a:ext uri="{FF2B5EF4-FFF2-40B4-BE49-F238E27FC236}">
                <a16:creationId xmlns:a16="http://schemas.microsoft.com/office/drawing/2014/main" id="{5F18EC74-B97D-1903-F474-57B77FD7A011}"/>
              </a:ext>
            </a:extLst>
          </p:cNvPr>
          <p:cNvSpPr/>
          <p:nvPr/>
        </p:nvSpPr>
        <p:spPr>
          <a:xfrm>
            <a:off x="1193445" y="1635611"/>
            <a:ext cx="457200" cy="457200"/>
          </a:xfrm>
          <a:prstGeom prst="roundRect">
            <a:avLst>
              <a:gd name="adj" fmla="val 16000"/>
            </a:avLst>
          </a:prstGeom>
          <a:solidFill>
            <a:srgbClr val="B85042"/>
          </a:solidFill>
          <a:ln w="12700">
            <a:solidFill>
              <a:srgbClr val="B85042"/>
            </a:solidFill>
            <a:prstDash val="solid"/>
          </a:ln>
        </p:spPr>
        <p:txBody>
          <a:bodyPr/>
          <a:lstStyle/>
          <a:p>
            <a:endParaRPr lang="en-AU"/>
          </a:p>
        </p:txBody>
      </p:sp>
      <p:sp>
        <p:nvSpPr>
          <p:cNvPr id="11" name="Text 1">
            <a:extLst>
              <a:ext uri="{FF2B5EF4-FFF2-40B4-BE49-F238E27FC236}">
                <a16:creationId xmlns:a16="http://schemas.microsoft.com/office/drawing/2014/main" id="{C140B394-EA0B-2B16-81A2-AAA34C985FE8}"/>
              </a:ext>
            </a:extLst>
          </p:cNvPr>
          <p:cNvSpPr/>
          <p:nvPr/>
        </p:nvSpPr>
        <p:spPr>
          <a:xfrm>
            <a:off x="1193445" y="1635611"/>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S</a:t>
            </a:r>
            <a:endParaRPr lang="en-US" sz="2400" dirty="0"/>
          </a:p>
        </p:txBody>
      </p:sp>
      <p:sp>
        <p:nvSpPr>
          <p:cNvPr id="13" name="Text 22">
            <a:extLst>
              <a:ext uri="{FF2B5EF4-FFF2-40B4-BE49-F238E27FC236}">
                <a16:creationId xmlns:a16="http://schemas.microsoft.com/office/drawing/2014/main" id="{EDCB12FA-278C-62B0-B130-7280D3294551}"/>
              </a:ext>
            </a:extLst>
          </p:cNvPr>
          <p:cNvSpPr/>
          <p:nvPr/>
        </p:nvSpPr>
        <p:spPr>
          <a:xfrm>
            <a:off x="640080" y="6053328"/>
            <a:ext cx="10881360" cy="320040"/>
          </a:xfrm>
          <a:prstGeom prst="rect">
            <a:avLst/>
          </a:prstGeom>
          <a:noFill/>
          <a:ln/>
        </p:spPr>
        <p:txBody>
          <a:bodyPr wrap="square" lIns="0" tIns="0" rIns="0" bIns="0" rtlCol="0" anchor="ctr"/>
          <a:lstStyle/>
          <a:p>
            <a:pPr marL="0" indent="0">
              <a:buNone/>
            </a:pPr>
            <a:r>
              <a:rPr lang="en-US" sz="1350" i="1" dirty="0">
                <a:solidFill>
                  <a:srgbClr val="B85042"/>
                </a:solidFill>
                <a:latin typeface="Calibri" pitchFamily="34" charset="0"/>
                <a:ea typeface="Calibri" pitchFamily="34" charset="-122"/>
                <a:cs typeface="Calibri" pitchFamily="34" charset="-120"/>
              </a:rPr>
              <a:t>For more information, please refer to the README and Project Documentation.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863</Words>
  <Application>Microsoft Office PowerPoint</Application>
  <PresentationFormat>Widescreen</PresentationFormat>
  <Paragraphs>144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2026-07-28T12:26:48Z</dcterms:created>
  <dcterms:modified xsi:type="dcterms:W3CDTF">2026-07-29T05:26:31Z</dcterms:modified>
</cp:coreProperties>
</file>